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444"/>
    <a:srgbClr val="10B981"/>
    <a:srgbClr val="A7F3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6230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EduSound Metrics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64465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 ·  May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88952" cy="652881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5074920"/>
            <a:ext cx="7315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24544" y="4662569"/>
            <a:ext cx="73152" cy="109902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0848" y="4444153"/>
            <a:ext cx="73152" cy="153585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17152" y="4522397"/>
            <a:ext cx="73152" cy="137936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63456" y="4860501"/>
            <a:ext cx="73152" cy="70315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4850391"/>
            <a:ext cx="73152" cy="72337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4517042"/>
            <a:ext cx="73152" cy="13900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02368" y="4446072"/>
            <a:ext cx="73152" cy="153201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48672" y="4670859"/>
            <a:ext cx="73152" cy="108244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94976" y="5064158"/>
            <a:ext cx="73152" cy="2958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0" y="4654396"/>
            <a:ext cx="73152" cy="1115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7584" y="4442413"/>
            <a:ext cx="73152" cy="153933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33888" y="4527908"/>
            <a:ext cx="73152" cy="136834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80192" y="4870672"/>
            <a:ext cx="73152" cy="68281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4840344"/>
            <a:ext cx="73152" cy="743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0" y="4511844"/>
            <a:ext cx="73152" cy="140047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19104" y="4448168"/>
            <a:ext cx="73152" cy="15278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65408" y="4679263"/>
            <a:ext cx="73152" cy="106563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11712" y="5053399"/>
            <a:ext cx="73152" cy="31736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558016" y="4646342"/>
            <a:ext cx="73152" cy="11314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04320" y="4440852"/>
            <a:ext cx="73152" cy="1542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50624" y="4533574"/>
            <a:ext cx="73152" cy="135701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EduSound</a:t>
            </a:r>
            <a:endParaRPr lang="en-US" sz="7200" dirty="0"/>
          </a:p>
        </p:txBody>
      </p:sp>
      <p:sp>
        <p:nvSpPr>
          <p:cNvPr id="26" name="Text 24"/>
          <p:cNvSpPr/>
          <p:nvPr/>
        </p:nvSpPr>
        <p:spPr>
          <a:xfrm>
            <a:off x="731520" y="28346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7200" dirty="0"/>
          </a:p>
        </p:txBody>
      </p:sp>
      <p:sp>
        <p:nvSpPr>
          <p:cNvPr id="27" name="Shape 25"/>
          <p:cNvSpPr/>
          <p:nvPr/>
        </p:nvSpPr>
        <p:spPr>
          <a:xfrm>
            <a:off x="777240" y="4023360"/>
            <a:ext cx="109728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51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to classrooms, not to people.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 demonstration  ·  May 2026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classroom noise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shapes attention, well-being and learning — silently.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94560"/>
            <a:ext cx="3246120" cy="2263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r>
              <a:rPr lang="en-US" sz="2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dB</a:t>
            </a:r>
            <a:endParaRPr lang="en-US" sz="7200" dirty="0">
              <a:solidFill>
                <a:srgbClr val="10B98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1988820" y="4594860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800600"/>
            <a:ext cx="3154680" cy="1110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above which comprehension drops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2194560"/>
            <a:ext cx="3246120" cy="2263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r>
              <a:rPr lang="en-US" sz="2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%</a:t>
            </a:r>
            <a:endParaRPr lang="en-US" sz="7200" dirty="0"/>
          </a:p>
        </p:txBody>
      </p:sp>
      <p:sp>
        <p:nvSpPr>
          <p:cNvPr id="11" name="Shape 9"/>
          <p:cNvSpPr/>
          <p:nvPr/>
        </p:nvSpPr>
        <p:spPr>
          <a:xfrm>
            <a:off x="5737860" y="4594860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4800600"/>
            <a:ext cx="3154680" cy="1110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teachers report voice strain at work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0" y="2194560"/>
            <a:ext cx="3246120" cy="2263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7200" dirty="0"/>
          </a:p>
        </p:txBody>
      </p:sp>
      <p:sp>
        <p:nvSpPr>
          <p:cNvPr id="15" name="Shape 13"/>
          <p:cNvSpPr/>
          <p:nvPr/>
        </p:nvSpPr>
        <p:spPr>
          <a:xfrm>
            <a:off x="9486900" y="4594860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4800600"/>
            <a:ext cx="3154680" cy="1110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louder rooms hit students with hearing aids hardest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EduSound Metrics does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simple loop, repeated all day, every day.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423160" cy="4206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0312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396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9" name="Shape 7"/>
          <p:cNvSpPr/>
          <p:nvPr/>
        </p:nvSpPr>
        <p:spPr>
          <a:xfrm>
            <a:off x="1463040" y="4114800"/>
            <a:ext cx="5943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2976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tiny mics per room, every few seconds.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1920240"/>
            <a:ext cx="2423160" cy="4206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49040" y="210312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21396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49040" y="2880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15" name="Shape 13"/>
          <p:cNvSpPr/>
          <p:nvPr/>
        </p:nvSpPr>
        <p:spPr>
          <a:xfrm>
            <a:off x="4434840" y="4114800"/>
            <a:ext cx="5943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42976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LED in the room, a dashboard on any device.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1920240"/>
            <a:ext cx="2423160" cy="4206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210312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21396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20840" y="2880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21" name="Shape 19"/>
          <p:cNvSpPr/>
          <p:nvPr/>
        </p:nvSpPr>
        <p:spPr>
          <a:xfrm>
            <a:off x="7406640" y="4114800"/>
            <a:ext cx="5943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42976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rooms, across days, across the year.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464040" y="1920240"/>
            <a:ext cx="2423160" cy="4206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692640" y="210312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0" y="21396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92640" y="2880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/>
          </a:p>
        </p:txBody>
      </p:sp>
      <p:sp>
        <p:nvSpPr>
          <p:cNvPr id="27" name="Shape 25"/>
          <p:cNvSpPr/>
          <p:nvPr/>
        </p:nvSpPr>
        <p:spPr>
          <a:xfrm>
            <a:off x="10378440" y="4114800"/>
            <a:ext cx="5943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6920" y="42976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for teachers and school leadership.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architectures, one choice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mic vs. a swarm of tiny ones.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A7F3D0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mic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2743200"/>
            <a:ext cx="4846320" cy="128016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3017520"/>
            <a:ext cx="822960" cy="8229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206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Simple install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617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One viewpoint of the room</a:t>
            </a:r>
            <a:endParaRPr lang="en-US" sz="1400" dirty="0">
              <a:solidFill>
                <a:srgbClr val="10B98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5029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Single point of failure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5440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Skewed by closest table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56962" y="1783080"/>
            <a:ext cx="5577840" cy="4480560"/>
          </a:xfrm>
          <a:prstGeom prst="roundRect">
            <a:avLst>
              <a:gd name="adj" fmla="val 2041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s-ES" dirty="0"/>
          </a:p>
        </p:txBody>
      </p:sp>
      <p:sp>
        <p:nvSpPr>
          <p:cNvPr id="15" name="Shape 13"/>
          <p:cNvSpPr/>
          <p:nvPr/>
        </p:nvSpPr>
        <p:spPr>
          <a:xfrm>
            <a:off x="4672354" y="1965960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9496" y="2002536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95160" y="2011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distributed mini-mics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446520" y="2743200"/>
            <a:ext cx="5120640" cy="1280160"/>
          </a:xfrm>
          <a:prstGeom prst="rect">
            <a:avLst/>
          </a:prstGeom>
          <a:solidFill>
            <a:schemeClr val="bg1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288036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0" y="288036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98480" y="288036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352044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0" y="352044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98480" y="352044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4206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Real spatial coverage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55080" y="4617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Median filters out one loud table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55080" y="5029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s-ES" sz="1400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r>
              <a:rPr lang="es-E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400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r>
              <a:rPr lang="es-E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400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r>
              <a:rPr lang="es-E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400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r>
              <a:rPr lang="es-E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</p:txBody>
      </p:sp>
      <p:sp>
        <p:nvSpPr>
          <p:cNvPr id="29" name="Text 27"/>
          <p:cNvSpPr/>
          <p:nvPr/>
        </p:nvSpPr>
        <p:spPr>
          <a:xfrm>
            <a:off x="6355080" y="5440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Highly complex installation and prone to failure.</a:t>
            </a:r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ceiling of the classroom to a phone anywhere in the world.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57400" y="3383280"/>
            <a:ext cx="960120" cy="411480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632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632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broker.hivemq.com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3383280"/>
            <a:ext cx="960120" cy="411480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778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SQLite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86600" y="3383280"/>
            <a:ext cx="960120" cy="411480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924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01200" y="3383280"/>
            <a:ext cx="960120" cy="411480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070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6070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Tunnel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3474720" cy="77724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166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school IT changes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26280" y="5120640"/>
            <a:ext cx="3474720" cy="77724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5166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ports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03920" y="5120640"/>
            <a:ext cx="3474720" cy="77724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5166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from any phone</a:t>
            </a:r>
            <a:endParaRPr lang="en-US" sz="16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listening node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= step-down PCB (fuse + TSR) + soldered USB-C pigtail + M5Stack ATOM Echo S3R.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66928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3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" y="1892808"/>
            <a:ext cx="5449824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806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complete listening nodes — each ATOM Echo wired to its own step-down PCB through a soldered pigtail.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0" y="178308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83680" y="2057400"/>
            <a:ext cx="512064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comp.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6629400" y="2775204"/>
            <a:ext cx="502920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soldered on the PCB (fuse + TSR 1-2450)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0" y="333756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83680" y="3611880"/>
            <a:ext cx="512064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0" dirty="0"/>
          </a:p>
        </p:txBody>
      </p:sp>
      <p:sp>
        <p:nvSpPr>
          <p:cNvPr id="15" name="Text 12"/>
          <p:cNvSpPr/>
          <p:nvPr/>
        </p:nvSpPr>
        <p:spPr>
          <a:xfrm>
            <a:off x="6629400" y="4329684"/>
            <a:ext cx="502920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per classroom (mesh)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0" y="489204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583680" y="5166360"/>
            <a:ext cx="512064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2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bus</a:t>
            </a:r>
            <a:endParaRPr lang="en-US" sz="7200" dirty="0"/>
          </a:p>
        </p:txBody>
      </p:sp>
      <p:sp>
        <p:nvSpPr>
          <p:cNvPr id="19" name="Text 16"/>
          <p:cNvSpPr/>
          <p:nvPr/>
        </p:nvSpPr>
        <p:spPr>
          <a:xfrm>
            <a:off x="6629400" y="5884164"/>
            <a:ext cx="502920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24 V line per room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sketch to circuit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from a pencil drawing to a board on the ceiling.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0" cy="457200"/>
          </a:xfrm>
          <a:prstGeom prst="roundRect">
            <a:avLst>
              <a:gd name="adj" fmla="val 120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2697480" cy="35204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9" name="Image 0" descr="C:\Users\Departamento\Desktop\SoundMetrics\microfonoAula\docs\fotos\IMG_20260511_175247_15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" y="2441448"/>
            <a:ext cx="2478024" cy="33009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94360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Pencil on graph paper — first attempt at the perfboard layout.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783080"/>
            <a:ext cx="731520" cy="457200"/>
          </a:xfrm>
          <a:prstGeom prst="roundRect">
            <a:avLst>
              <a:gd name="adj" fmla="val 12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0" y="1783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06908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291840" y="2331720"/>
            <a:ext cx="2697480" cy="35204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15" name="Image 1" descr="C:\Users\Departamento\Desktop\SoundMetrics\microfonoAula\docs\schema_pcb_no_valido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01568" y="2441448"/>
            <a:ext cx="2478024" cy="33009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91840" y="594360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digital pass with an Adafruit USB-C breakout — CC pull-ups spotted as wrong. Discarded.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35040" y="1783080"/>
            <a:ext cx="731520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35040" y="1783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681228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035040" y="2331720"/>
            <a:ext cx="2697480" cy="35204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1" name="Image 2" descr="C:\Users\Departamento\Desktop\SoundMetrics\microfonoAula\docs\schema_pcb_final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44768" y="2441448"/>
            <a:ext cx="2478024" cy="33009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035040" y="594360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as-built schematic on 19×31 perfboard — only a 1 A fuse and a Traco TSR 1-2450, all soldered.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778240" y="1783080"/>
            <a:ext cx="731520" cy="4572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778240" y="1783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955548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8778240" y="2331720"/>
            <a:ext cx="2697480" cy="35204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7" name="Imag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198578" y="2441448"/>
            <a:ext cx="1856803" cy="33009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778240" y="594360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board from IMG_144 — fuse + TSR soldered, 24 V wires up, USB-C pigtail down.</a:t>
            </a:r>
            <a:endParaRPr lang="en-US" sz="11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wall socket to ceiling mic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wiring scheme — every classroom is identical.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59536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1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" y="1947154"/>
            <a:ext cx="8375904" cy="42153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326880" y="1828800"/>
            <a:ext cx="2377440" cy="4434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326880" y="21031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V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932688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601200" y="338328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0" y="35661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9326880" y="4297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node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601200" y="484632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0" y="50292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9326880" y="5715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ATOM Echo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installed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step-down PCB, single 24 V bus, mounted on the ceiling.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840480" cy="44348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63028" y="1938528"/>
            <a:ext cx="2211704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806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 PCB (close-up).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0" y="1828800"/>
            <a:ext cx="3291840" cy="4434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9" name="Image 1" descr="C:\Users\Departamento\Desktop\SoundMetrics\microfonoAula\docs\fotos\IMG_20260511_175247_163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81728" y="1938528"/>
            <a:ext cx="3072384" cy="3931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09160" y="5806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on the ceiling.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8046720" y="1828800"/>
            <a:ext cx="3657600" cy="4434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12" name="Image 2" descr="C:\Users\Departamento\Desktop\SoundMetrics\microfonoAula\docs\fotos\IMG_20260511_175247_168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56448" y="1938528"/>
            <a:ext cx="3438144" cy="3931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83880" y="5806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junction box with 24 V terminal block.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room speaks for itself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mic glows. The class regulates the class.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7280" y="1828800"/>
            <a:ext cx="2286000" cy="22860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228600" dist="38100" dir="16200000" algn="bl" rotWithShape="0">
              <a:srgbClr val="94A3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606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dB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937760" y="1828800"/>
            <a:ext cx="2286000" cy="22860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228600" dist="38100" dir="16200000" algn="bl" rotWithShape="0">
              <a:srgbClr val="94A3B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2606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 dB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8056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778240" y="1828800"/>
            <a:ext cx="2286000" cy="22860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228600" dist="38100" dir="16200000" algn="bl" rotWithShape="0">
              <a:srgbClr val="94A3B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78240" y="2606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70 dB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2104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LOUD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teacher voice required.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classroom, five active mics, real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59536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2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" y="1892808"/>
            <a:ext cx="8375904" cy="4306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326880" y="1874520"/>
            <a:ext cx="2377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326880" y="20116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44.7 dB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932688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average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326880" y="3337560"/>
            <a:ext cx="2377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326880" y="34747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9326880" y="4160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mics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326880" y="4800600"/>
            <a:ext cx="2377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326880" y="4937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9326880" y="5623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latency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— by lesson, by 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align with the school timetable.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59536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3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" y="1892808"/>
            <a:ext cx="8375904" cy="4306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326880" y="178308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509760" y="2057400"/>
            <a:ext cx="20116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r>
              <a:rPr lang="en-US" sz="2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</a:t>
            </a:r>
            <a:endParaRPr lang="en-US" sz="7200" dirty="0"/>
          </a:p>
        </p:txBody>
      </p:sp>
      <p:sp>
        <p:nvSpPr>
          <p:cNvPr id="9" name="Shape 6"/>
          <p:cNvSpPr/>
          <p:nvPr/>
        </p:nvSpPr>
        <p:spPr>
          <a:xfrm>
            <a:off x="10149840" y="270433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55480" y="2775204"/>
            <a:ext cx="192024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5-s samples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326880" y="333756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509760" y="3611880"/>
            <a:ext cx="20116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2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</a:t>
            </a:r>
            <a:endParaRPr lang="en-US" sz="7200" dirty="0"/>
          </a:p>
        </p:txBody>
      </p:sp>
      <p:sp>
        <p:nvSpPr>
          <p:cNvPr id="13" name="Shape 10"/>
          <p:cNvSpPr/>
          <p:nvPr/>
        </p:nvSpPr>
        <p:spPr>
          <a:xfrm>
            <a:off x="10149840" y="425881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55480" y="4329684"/>
            <a:ext cx="192024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per-minute rollup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326880" y="489204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509760" y="5166360"/>
            <a:ext cx="20116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7200" dirty="0"/>
          </a:p>
        </p:txBody>
      </p:sp>
      <p:sp>
        <p:nvSpPr>
          <p:cNvPr id="17" name="Shape 14"/>
          <p:cNvSpPr/>
          <p:nvPr/>
        </p:nvSpPr>
        <p:spPr>
          <a:xfrm>
            <a:off x="10149840" y="581329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55480" y="5884164"/>
            <a:ext cx="192024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per-hour rollup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Awareness, not authority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 becomes the impartial referee.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class regulates the class.”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“who is shouting?” to “what does our room sound like right now?”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4348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4572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a target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5029200"/>
            <a:ext cx="457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 teacher set a dB goal for each activity.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34840" y="44348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4572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together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17720" y="5029200"/>
            <a:ext cx="457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lesson, the curve becomes a conversation.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0" y="44348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03920" y="4572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503920" y="5029200"/>
            <a:ext cx="457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LED, not the teacher, says “too loud”.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decisions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measurements replace opinions.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03120"/>
            <a:ext cx="1188720" cy="155448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194560" y="21488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problem rooms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94560" y="2697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rooms that are loud regardless of who occupies them.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103120"/>
            <a:ext cx="1188720" cy="155448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3317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909560" y="21488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interventions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09560" y="2697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before &amp; after acoustic panels, carpets, blinds.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389120"/>
            <a:ext cx="1188720" cy="155448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177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194560" y="44348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the timetable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94560" y="4983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loudest slots — sometimes it's scheduling, not behavior.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4114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4389120"/>
            <a:ext cx="1188720" cy="155448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6177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909560" y="44348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anomalies early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909560" y="4983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sudden baseline shift often signals a broken HVAC unit.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data, their questions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literacy with a dataset students actually care about.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6596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our room loudest — and why?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92608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371600" y="28803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Fridays sound different from Mondays?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88620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371600" y="38404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new seating plan really change anything?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48463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371600" y="48006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room next door noisier than ours?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is also a JSON endpoint — export to Excel, Sheets, Python, R or Scratch.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room, not the people in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D1FAE5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659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dB level (every few seconds)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min / max / avg per minute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46634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Anonymous room label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5577840" cy="4434840"/>
          </a:xfrm>
          <a:prstGeom prst="roundRect">
            <a:avLst>
              <a:gd name="adj" fmla="val 2062"/>
            </a:avLst>
          </a:prstGeom>
          <a:solidFill>
            <a:srgbClr val="FEE2E2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96596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355080" y="27432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Audio recording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55080" y="35204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Speech / transcription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42976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Names, faces, identifiers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55080" y="50749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Location data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is already telling us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days of continuous monitoring in one classroom — 7 microphones, 24/7.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r>
              <a:rPr lang="en-US" sz="1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days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2029968" y="301752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108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continuous recording, no dropouts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7830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965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42k</a:t>
            </a:r>
            <a:r>
              <a:rPr lang="en-US" sz="1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samples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6007608" y="301752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3108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in one school day, 7 mics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17830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0" y="1965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</a:t>
            </a: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</a:t>
            </a:r>
            <a:endParaRPr lang="en-US" sz="5600" dirty="0"/>
          </a:p>
        </p:txBody>
      </p:sp>
      <p:sp>
        <p:nvSpPr>
          <p:cNvPr id="15" name="Shape 13"/>
          <p:cNvSpPr/>
          <p:nvPr/>
        </p:nvSpPr>
        <p:spPr>
          <a:xfrm>
            <a:off x="9985248" y="301752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3108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 spread across mics in the same room — the distributed model earns its keep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3434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</a:t>
            </a:r>
            <a:endParaRPr lang="en-US" sz="5600" dirty="0"/>
          </a:p>
        </p:txBody>
      </p:sp>
      <p:sp>
        <p:nvSpPr>
          <p:cNvPr id="19" name="Shape 17"/>
          <p:cNvSpPr/>
          <p:nvPr/>
        </p:nvSpPr>
        <p:spPr>
          <a:xfrm>
            <a:off x="2029968" y="539496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4864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loudest lesson average (5th period, just after lunch)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26280" y="41605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43434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</a:t>
            </a:r>
            <a:endParaRPr lang="en-US" sz="5600" dirty="0"/>
          </a:p>
        </p:txBody>
      </p:sp>
      <p:sp>
        <p:nvSpPr>
          <p:cNvPr id="23" name="Shape 21"/>
          <p:cNvSpPr/>
          <p:nvPr/>
        </p:nvSpPr>
        <p:spPr>
          <a:xfrm>
            <a:off x="6007608" y="539496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54864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quietest moment of the day — the break, when the room is empty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3920" y="41605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0" y="43434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5600" dirty="0"/>
          </a:p>
        </p:txBody>
      </p:sp>
      <p:sp>
        <p:nvSpPr>
          <p:cNvPr id="27" name="Shape 25"/>
          <p:cNvSpPr/>
          <p:nvPr/>
        </p:nvSpPr>
        <p:spPr>
          <a:xfrm>
            <a:off x="9985248" y="539496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0" y="54864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day above 70 dB — the room never tipped into red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88952" cy="652881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695831"/>
            <a:ext cx="73152" cy="135153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24544" y="599695"/>
            <a:ext cx="73152" cy="154381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0848" y="802090"/>
            <a:ext cx="73152" cy="113902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17152" y="1207825"/>
            <a:ext cx="73152" cy="32755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63456" y="842802"/>
            <a:ext cx="73152" cy="10575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608743"/>
            <a:ext cx="73152" cy="152571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668958"/>
            <a:ext cx="73152" cy="140528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02368" y="995129"/>
            <a:ext cx="73152" cy="75294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48672" y="1035029"/>
            <a:ext cx="73152" cy="67314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94976" y="690093"/>
            <a:ext cx="73152" cy="136301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0" y="601172"/>
            <a:ext cx="73152" cy="154085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7584" y="810087"/>
            <a:ext cx="73152" cy="112302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33888" y="1218582"/>
            <a:ext cx="73152" cy="30603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80192" y="834345"/>
            <a:ext cx="73152" cy="107451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606562"/>
            <a:ext cx="73152" cy="153007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0" y="674081"/>
            <a:ext cx="73152" cy="139503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19104" y="1005145"/>
            <a:ext cx="73152" cy="73291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65408" y="1024830"/>
            <a:ext cx="73152" cy="6935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11712" y="684508"/>
            <a:ext cx="73152" cy="137418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558016" y="602827"/>
            <a:ext cx="73152" cy="153754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04320" y="818204"/>
            <a:ext cx="73152" cy="1106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50624" y="1229343"/>
            <a:ext cx="73152" cy="28451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914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PoC has shown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731520" y="219456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2377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14400" y="3246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continuous monitoring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480560" y="219456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2377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663440" y="3246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open software is enough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229600" y="219456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2377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8412480" y="3246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 changes the room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31520" y="43891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572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Year-long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914400" y="5440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rollups keep history meaningful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480560" y="43891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0" y="4572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Versatile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4663440" y="5440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teach, regulate, manage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229600" y="43891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0" y="4572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8412480" y="5440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MIT-licensed, replicable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EduSound Metrics  ·  Thank you</a:t>
            </a:r>
            <a:endParaRPr lang="en-US" sz="14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996</Words>
  <Application>Microsoft Office PowerPoint</Application>
  <PresentationFormat>Panorámica</PresentationFormat>
  <Paragraphs>227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EduSound Metrics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EduSound Metrics</dc:title>
  <dc:subject>Educational acoustics — proof of concept</dc:subject>
  <dc:creator>EduSound Metrics</dc:creator>
  <cp:lastModifiedBy>Departamento</cp:lastModifiedBy>
  <cp:revision>3</cp:revision>
  <dcterms:created xsi:type="dcterms:W3CDTF">2026-05-11T17:53:35Z</dcterms:created>
  <dcterms:modified xsi:type="dcterms:W3CDTF">2026-05-12T18:01:36Z</dcterms:modified>
</cp:coreProperties>
</file>