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446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May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074920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4662569"/>
            <a:ext cx="73152" cy="109902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4444153"/>
            <a:ext cx="73152" cy="153585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4522397"/>
            <a:ext cx="73152" cy="137936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4860501"/>
            <a:ext cx="73152" cy="70315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4850391"/>
            <a:ext cx="73152" cy="72337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4517042"/>
            <a:ext cx="73152" cy="13900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446072"/>
            <a:ext cx="73152" cy="15320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4670859"/>
            <a:ext cx="73152" cy="10824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5064158"/>
            <a:ext cx="73152" cy="2958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4654396"/>
            <a:ext cx="73152" cy="1115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4442413"/>
            <a:ext cx="73152" cy="153933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4527908"/>
            <a:ext cx="73152" cy="13683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4870672"/>
            <a:ext cx="73152" cy="6828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4840344"/>
            <a:ext cx="73152" cy="743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4511844"/>
            <a:ext cx="73152" cy="140047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4448168"/>
            <a:ext cx="73152" cy="152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4679263"/>
            <a:ext cx="73152" cy="106563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5053399"/>
            <a:ext cx="73152" cy="31736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4646342"/>
            <a:ext cx="73152" cy="11314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4440852"/>
            <a:ext cx="73152" cy="1542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4533574"/>
            <a:ext cx="73152" cy="13570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200" dirty="0"/>
          </a:p>
        </p:txBody>
      </p:sp>
      <p:sp>
        <p:nvSpPr>
          <p:cNvPr id="27" name="Shape 25"/>
          <p:cNvSpPr/>
          <p:nvPr/>
        </p:nvSpPr>
        <p:spPr>
          <a:xfrm>
            <a:off x="777240" y="4023360"/>
            <a:ext cx="109728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to classrooms, not to people.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demonstration  ·  May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classroom noise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shapes attention, well-being and learning — silently.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98882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above which comprehension drops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573786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report voice strain at 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2194560"/>
            <a:ext cx="3246120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9486900" y="459486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4800600"/>
            <a:ext cx="3154680" cy="1110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louder rooms hit students with hearing aids hardest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EduSound Metrics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loop, repeated all day, every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14630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tiny mics per room, every few seconds.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15" name="Shape 13"/>
          <p:cNvSpPr/>
          <p:nvPr/>
        </p:nvSpPr>
        <p:spPr>
          <a:xfrm>
            <a:off x="44348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LED in the room, a dashboard on any device.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21" name="Shape 19"/>
          <p:cNvSpPr/>
          <p:nvPr/>
        </p:nvSpPr>
        <p:spPr>
          <a:xfrm>
            <a:off x="74066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rooms, across days, across the year.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64040" y="1920240"/>
            <a:ext cx="2423160" cy="4206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92640" y="2103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13969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92640" y="28803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27" name="Shape 25"/>
          <p:cNvSpPr/>
          <p:nvPr/>
        </p:nvSpPr>
        <p:spPr>
          <a:xfrm>
            <a:off x="10378440" y="4114800"/>
            <a:ext cx="5943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429768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teachers and school leadership.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architectures, one choice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 vs. a swarm of tiny ones.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mic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4846320" cy="128016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301752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 install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One viewpoint of the room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Single point of failure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Skewed by closest table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61320" y="196596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61320" y="2002536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distributed mini-mics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46520" y="2743200"/>
            <a:ext cx="5120640" cy="1280160"/>
          </a:xfrm>
          <a:prstGeom prst="rect">
            <a:avLst/>
          </a:prstGeom>
          <a:solidFill>
            <a:srgbClr val="A7F3D0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8480" y="3520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 spatial coverage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4617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Median filters out one loud table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029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Graceful degradation if a mic fails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5440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Opens the door to heatmaps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ceiling of the classroom to a phone anywhere in the world.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24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3383280"/>
            <a:ext cx="960120" cy="411480"/>
          </a:xfrm>
          <a:prstGeom prst="rightArrow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26517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0" y="2880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0704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school IT changes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2628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ports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920" y="5120640"/>
            <a:ext cx="347472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5166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 phone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listening point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M5Stack ATOM Echo S3R — ESP32-S3 + MEMS mic + RGB LED.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7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5449824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listening node with its USB-C pigtail.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205740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USD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8778240" y="270433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77520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listening point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3337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361188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4" name="Shape 11"/>
          <p:cNvSpPr/>
          <p:nvPr/>
        </p:nvSpPr>
        <p:spPr>
          <a:xfrm>
            <a:off x="8778240" y="425881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432968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mics per classroom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0" y="48920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83680" y="5166360"/>
            <a:ext cx="512064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</a:t>
            </a:r>
            <a:endParaRPr lang="en-US" sz="7200" dirty="0"/>
          </a:p>
        </p:txBody>
      </p:sp>
      <p:sp>
        <p:nvSpPr>
          <p:cNvPr id="18" name="Shape 15"/>
          <p:cNvSpPr/>
          <p:nvPr/>
        </p:nvSpPr>
        <p:spPr>
          <a:xfrm>
            <a:off x="8778240" y="581329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5884164"/>
            <a:ext cx="502920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24 V line per room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sketch to circuit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a pencil drawing to a board on the ceiling.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9" name="Image 0" descr="C:\Users\Departamento\Desktop\SoundMetrics\microfonoAula\docs\fotos\IMG_20260511_175247_15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441448"/>
            <a:ext cx="3392424" cy="33009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9436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on graph paper — first attempt at the perfboard layout.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17830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17830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1208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251960" y="23317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15" name="Image 1" descr="C:\Users\Departamento\Desktop\SoundMetrics\microfonoAula\docs\schema_pcb_no_valid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61688" y="2441448"/>
            <a:ext cx="3392424" cy="33009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59436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digital pass with an Adafruit USB-C breakout — CC pull-ups spotted as wrong. Discarded.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55280" y="17830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55280" y="17830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9154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7955280" y="233172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21" name="Image 2" descr="C:\Users\Departamento\Desktop\SoundMetrics\microfonoAula\docs\fotos\IMG_20260511_175247_14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65008" y="2441448"/>
            <a:ext cx="3392424" cy="33009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55280" y="59436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+ TSR 1-2450 soldered on perfboard. No breakout, no pull-up resistors. 24 V in, USB-C pigtail 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installed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step-down PCB, single 24 V bus, mounted on the ceiling.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938528"/>
            <a:ext cx="5449824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complete listening nodes, ready to install.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828800"/>
            <a:ext cx="2743200" cy="4434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9" name="Image 1" descr="C:\Users\Departamento\Desktop\SoundMetrics\microfonoAula\docs\fotos\IMG_20260511_175247_16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0528" y="1938528"/>
            <a:ext cx="2523744" cy="3931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5806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the ceiling.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326880" y="1828800"/>
            <a:ext cx="2377440" cy="4434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12" name="Image 2" descr="C:\Users\Departamento\Desktop\SoundMetrics\microfonoAula\docs\fotos\IMG_20260511_175247_168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36608" y="1938528"/>
            <a:ext cx="2157984" cy="3931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64040" y="5806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box, 24 V.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wall socket to ceiling mic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wiring scheme — every classroom is identical.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595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1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938528"/>
            <a:ext cx="8375904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28800"/>
            <a:ext cx="2377440" cy="4434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932688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0" y="338328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0" y="3566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932688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0" y="484632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50292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326880" y="5715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ATOM Echo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speaks for itself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 glows. The class regulates the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2286000" cy="22860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dB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37760" y="1828800"/>
            <a:ext cx="2286000" cy="2286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dB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778240" y="1828800"/>
            <a:ext cx="2286000" cy="22860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228600" dist="38100" dir="16200000">
              <a:srgbClr val="94A3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 dB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LOUD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voice required.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classroom, five active mics,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2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87452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2011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 dB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3268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average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26880" y="333756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26880" y="3474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326880" y="4160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mics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26880" y="4800600"/>
            <a:ext cx="2377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32688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326880" y="5623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latency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— by lesson, by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align with the school timetable.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5953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pic>
        <p:nvPicPr>
          <p:cNvPr id="6" name="Image 0" descr="C:\Users\Departamento\Desktop\SoundMetrics\microfonoAula\docs\fotos\IMG_20260511_175247_13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892808"/>
            <a:ext cx="8375904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78308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509760" y="205740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</a:t>
            </a: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10149840" y="270433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55480" y="277520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5-s samples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326880" y="333756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509760" y="361188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</a:t>
            </a:r>
            <a:endParaRPr lang="en-US" sz="7200" dirty="0"/>
          </a:p>
        </p:txBody>
      </p:sp>
      <p:sp>
        <p:nvSpPr>
          <p:cNvPr id="13" name="Shape 10"/>
          <p:cNvSpPr/>
          <p:nvPr/>
        </p:nvSpPr>
        <p:spPr>
          <a:xfrm>
            <a:off x="10149840" y="425881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55480" y="432968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per-minute rollup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326880" y="489204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509760" y="5166360"/>
            <a:ext cx="20116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pPr algn="ctr" indent="0" marL="0">
              <a:buNone/>
            </a:pPr>
            <a:endParaRPr lang="en-US" sz="7200" dirty="0"/>
          </a:p>
        </p:txBody>
      </p:sp>
      <p:sp>
        <p:nvSpPr>
          <p:cNvPr id="17" name="Shape 14"/>
          <p:cNvSpPr/>
          <p:nvPr/>
        </p:nvSpPr>
        <p:spPr>
          <a:xfrm>
            <a:off x="10149840" y="5813298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55480" y="5884164"/>
            <a:ext cx="1920240" cy="38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per-hour rollup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Awareness, not authority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becomes the impartial referee.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class regulates the class.”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“who is shouting?” to “what does our room sound like right now?”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target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teacher set a dB goal for each activity.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together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lesson, the curve becomes a conversation.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44348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502920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LED, not the teacher, says “too loud”.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measurements replace opinions.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94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problem rooms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rooms that are loud regardless of who occupies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03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31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909560" y="2148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interventions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956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&amp; after acoustic panels, carpets, blinds.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94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the timetable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loudest slots — sometimes it's scheduling, not behavior.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389120"/>
            <a:ext cx="1188720" cy="155448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617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909560" y="44348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anomalies early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09560" y="4983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baseline shift often signals a broken HVAC unit.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data, their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 with a dataset students actually care about.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our room loudest — and why?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9260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Fridays sound different from Mondays?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8862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seating plan really change anything?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8463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room next door noisier than ours?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also a JSON endpoint — export to Excel, Sheets, Python, R or Scratch.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room, not the people in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 level (every few seconds)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 / max / avg per minute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Anonymous room label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9659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Audio recording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35204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Speech / transcription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4297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Names, faces, identifiers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50749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Location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already telling 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 of continuous monitoring in one classroom — 7 microphones, 24/7.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pPr algn="ctr" indent="0" marL="0">
              <a:buNone/>
            </a:pP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202996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continuous recording, no dropouts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42k</a:t>
            </a:r>
            <a:pPr algn="ctr" indent="0" marL="0">
              <a:buNone/>
            </a:pPr>
            <a:r>
              <a:rPr lang="en-US" sz="1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samples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600760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one school day, 7 mics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0" y="19659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</a:t>
            </a:r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9985248" y="301752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spread across mics in the same room — the distributed model earns its keep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19" name="Shape 17"/>
          <p:cNvSpPr/>
          <p:nvPr/>
        </p:nvSpPr>
        <p:spPr>
          <a:xfrm>
            <a:off x="202996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loudest lesson average (5th period, just after lunch)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5600" dirty="0"/>
          </a:p>
        </p:txBody>
      </p:sp>
      <p:sp>
        <p:nvSpPr>
          <p:cNvPr id="23" name="Shape 21"/>
          <p:cNvSpPr/>
          <p:nvPr/>
        </p:nvSpPr>
        <p:spPr>
          <a:xfrm>
            <a:off x="600760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quietest moment of the day — the break, when the room is empty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1605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94A3B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0" y="4343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5600" dirty="0"/>
          </a:p>
        </p:txBody>
      </p:sp>
      <p:sp>
        <p:nvSpPr>
          <p:cNvPr id="27" name="Shape 25"/>
          <p:cNvSpPr/>
          <p:nvPr/>
        </p:nvSpPr>
        <p:spPr>
          <a:xfrm>
            <a:off x="9985248" y="539496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5486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day above 70 dB — the room never tipped into red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88952" cy="652881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695831"/>
            <a:ext cx="73152" cy="13515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24544" y="599695"/>
            <a:ext cx="73152" cy="15438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802090"/>
            <a:ext cx="73152" cy="113902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2" y="1207825"/>
            <a:ext cx="73152" cy="32755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63456" y="842802"/>
            <a:ext cx="73152" cy="10575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608743"/>
            <a:ext cx="73152" cy="15257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668958"/>
            <a:ext cx="73152" cy="140528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995129"/>
            <a:ext cx="73152" cy="75294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48672" y="1035029"/>
            <a:ext cx="73152" cy="6731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690093"/>
            <a:ext cx="73152" cy="13630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0" y="601172"/>
            <a:ext cx="73152" cy="154085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7584" y="810087"/>
            <a:ext cx="73152" cy="112302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33888" y="1218582"/>
            <a:ext cx="73152" cy="3060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80192" y="834345"/>
            <a:ext cx="73152" cy="107451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26496" y="606562"/>
            <a:ext cx="73152" cy="15300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674081"/>
            <a:ext cx="73152" cy="139503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19104" y="1005145"/>
            <a:ext cx="73152" cy="73291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1024830"/>
            <a:ext cx="73152" cy="6935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11712" y="684508"/>
            <a:ext cx="73152" cy="137418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58016" y="602827"/>
            <a:ext cx="73152" cy="153754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818204"/>
            <a:ext cx="73152" cy="1106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50624" y="1229343"/>
            <a:ext cx="73152" cy="28451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PoC has shown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73152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440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continuous monitoring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8056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6344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open software is enough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219456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412480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changes the room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Year-long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1440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rollups keep history meaningful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8056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66344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teach, regulate, manage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29600" y="4389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0F1E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4572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41248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replicable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EduSound Metrics  ·  Thank you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EduSound Metrics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EduSound Metrics</dc:title>
  <dc:subject>Educational acoustics — proof of concept</dc:subject>
  <dc:creator>EduSound Metrics</dc:creator>
  <cp:lastModifiedBy>EduSound Metrics</cp:lastModifiedBy>
  <cp:revision>1</cp:revision>
  <dcterms:created xsi:type="dcterms:W3CDTF">2026-05-11T17:11:58Z</dcterms:created>
  <dcterms:modified xsi:type="dcterms:W3CDTF">2026-05-11T17:11:58Z</dcterms:modified>
</cp:coreProperties>
</file>