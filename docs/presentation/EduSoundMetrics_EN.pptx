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1E3A8A"/>
          </a:solidFill>
          <a:ln/>
        </p:spPr>
      </p:sp>
      <p:sp>
        <p:nvSpPr>
          <p:cNvPr id="3" name="Shape 1"/>
          <p:cNvSpPr/>
          <p:nvPr/>
        </p:nvSpPr>
        <p:spPr>
          <a:xfrm>
            <a:off x="0" y="6693408"/>
            <a:ext cx="12188952" cy="18288"/>
          </a:xfrm>
          <a:prstGeom prst="rect">
            <a:avLst/>
          </a:prstGeom>
          <a:solidFill>
            <a:srgbClr val="CBD5E1"/>
          </a:solidFill>
          <a:ln/>
        </p:spPr>
      </p:sp>
      <p:sp>
        <p:nvSpPr>
          <p:cNvPr id="4" name="Text 2"/>
          <p:cNvSpPr/>
          <p:nvPr/>
        </p:nvSpPr>
        <p:spPr>
          <a:xfrm>
            <a:off x="457200" y="6446520"/>
            <a:ext cx="8229600" cy="228600"/>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EduSound Metrics  ·  Educational acoustics — proof of concept</a:t>
            </a:r>
            <a:endParaRPr lang="en-US" sz="900" dirty="0"/>
          </a:p>
        </p:txBody>
      </p:sp>
      <p:sp>
        <p:nvSpPr>
          <p:cNvPr id="5" name="Text 3"/>
          <p:cNvSpPr/>
          <p:nvPr/>
        </p:nvSpPr>
        <p:spPr>
          <a:xfrm>
            <a:off x="8686800" y="6446520"/>
            <a:ext cx="3200400" cy="228600"/>
          </a:xfrm>
          <a:prstGeom prst="rect">
            <a:avLst/>
          </a:prstGeom>
          <a:noFill/>
          <a:ln/>
        </p:spPr>
        <p:txBody>
          <a:bodyPr wrap="square" rtlCol="0" anchor="ctr"/>
          <a:lstStyle/>
          <a:p>
            <a:pPr algn="r" indent="0" marL="0">
              <a:buNone/>
            </a:pPr>
            <a:r>
              <a:rPr lang="en-US" sz="900" dirty="0">
                <a:solidFill>
                  <a:srgbClr val="334155"/>
                </a:solidFill>
                <a:latin typeface="Calibri" pitchFamily="34" charset="0"/>
                <a:ea typeface="Calibri" pitchFamily="34" charset="-122"/>
                <a:cs typeface="Calibri" pitchFamily="34" charset="-120"/>
              </a:rPr>
              <a:t>github.com/Rubenbros/microfonoAula</a:t>
            </a:r>
            <a:endParaRPr lang="en-US" sz="900" dirty="0"/>
          </a:p>
        </p:txBody>
      </p:sp>
      <p:sp>
        <p:nvSpPr>
          <p:cNvPr id="25" name="Slide Number Placeholder 0"/>
          <p:cNvSpPr>
            <a:spLocks noGrp="1"/>
          </p:cNvSpPr>
          <p:nvPr>
            <p:ph type="sldNum" sz="quarter" idx="4294967295"/>
          </p:nvPr>
        </p:nvSpPr>
        <p:spPr>
          <a:xfrm>
            <a:off x="11704320"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334155"/>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04320"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334155"/>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164592"/>
            <a:ext cx="12188952" cy="6528816"/>
          </a:xfrm>
          <a:prstGeom prst="rect">
            <a:avLst/>
          </a:prstGeom>
          <a:solidFill>
            <a:srgbClr val="1E3A8A"/>
          </a:solidFill>
          <a:ln w="12700">
            <a:solidFill>
              <a:srgbClr val="1E3A8A"/>
            </a:solidFill>
            <a:prstDash val="solid"/>
          </a:ln>
        </p:spPr>
      </p:sp>
      <p:sp>
        <p:nvSpPr>
          <p:cNvPr id="3" name="Text 1"/>
          <p:cNvSpPr/>
          <p:nvPr/>
        </p:nvSpPr>
        <p:spPr>
          <a:xfrm>
            <a:off x="731520" y="1920240"/>
            <a:ext cx="10698480" cy="1188720"/>
          </a:xfrm>
          <a:prstGeom prst="rect">
            <a:avLst/>
          </a:prstGeom>
          <a:noFill/>
          <a:ln/>
        </p:spPr>
        <p:txBody>
          <a:bodyPr wrap="square" rtlCol="0" anchor="ctr"/>
          <a:lstStyle/>
          <a:p>
            <a:pPr indent="0" marL="0">
              <a:buNone/>
            </a:pPr>
            <a:r>
              <a:rPr lang="en-US" sz="6400" b="1" dirty="0">
                <a:solidFill>
                  <a:srgbClr val="FFFFFF"/>
                </a:solidFill>
                <a:latin typeface="Calibri" pitchFamily="34" charset="0"/>
                <a:ea typeface="Calibri" pitchFamily="34" charset="-122"/>
                <a:cs typeface="Calibri" pitchFamily="34" charset="-120"/>
              </a:rPr>
              <a:t>EduSound Metrics</a:t>
            </a:r>
            <a:endParaRPr lang="en-US" sz="6400" dirty="0"/>
          </a:p>
        </p:txBody>
      </p:sp>
      <p:sp>
        <p:nvSpPr>
          <p:cNvPr id="4" name="Text 2"/>
          <p:cNvSpPr/>
          <p:nvPr/>
        </p:nvSpPr>
        <p:spPr>
          <a:xfrm>
            <a:off x="731520" y="3200400"/>
            <a:ext cx="10698480" cy="640080"/>
          </a:xfrm>
          <a:prstGeom prst="rect">
            <a:avLst/>
          </a:prstGeom>
          <a:noFill/>
          <a:ln/>
        </p:spPr>
        <p:txBody>
          <a:bodyPr wrap="square" rtlCol="0" anchor="ctr"/>
          <a:lstStyle/>
          <a:p>
            <a:pPr indent="0" marL="0">
              <a:buNone/>
            </a:pPr>
            <a:r>
              <a:rPr lang="en-US" sz="2200" i="1" dirty="0">
                <a:solidFill>
                  <a:srgbClr val="BFDBFE"/>
                </a:solidFill>
                <a:latin typeface="Calibri" pitchFamily="34" charset="0"/>
                <a:ea typeface="Calibri" pitchFamily="34" charset="-122"/>
                <a:cs typeface="Calibri" pitchFamily="34" charset="-120"/>
              </a:rPr>
              <a:t>A distributed acoustic monitoring system for classrooms</a:t>
            </a:r>
            <a:endParaRPr lang="en-US" sz="2200" dirty="0"/>
          </a:p>
        </p:txBody>
      </p:sp>
      <p:sp>
        <p:nvSpPr>
          <p:cNvPr id="5" name="Shape 3"/>
          <p:cNvSpPr/>
          <p:nvPr/>
        </p:nvSpPr>
        <p:spPr>
          <a:xfrm>
            <a:off x="777240" y="4023360"/>
            <a:ext cx="1097280" cy="73152"/>
          </a:xfrm>
          <a:prstGeom prst="rect">
            <a:avLst/>
          </a:prstGeom>
          <a:solidFill>
            <a:srgbClr val="F59E0B"/>
          </a:solidFill>
          <a:ln w="12700">
            <a:solidFill>
              <a:srgbClr val="F59E0B"/>
            </a:solidFill>
            <a:prstDash val="solid"/>
          </a:ln>
        </p:spPr>
      </p:sp>
      <p:sp>
        <p:nvSpPr>
          <p:cNvPr id="6" name="Text 4"/>
          <p:cNvSpPr/>
          <p:nvPr/>
        </p:nvSpPr>
        <p:spPr>
          <a:xfrm>
            <a:off x="731520" y="4297680"/>
            <a:ext cx="10698480" cy="457200"/>
          </a:xfrm>
          <a:prstGeom prst="rect">
            <a:avLst/>
          </a:prstGeom>
          <a:noFill/>
          <a:ln/>
        </p:spPr>
        <p:txBody>
          <a:bodyPr wrap="square" rtlCol="0" anchor="ctr"/>
          <a:lstStyle/>
          <a:p>
            <a:pPr indent="0" marL="0">
              <a:buNone/>
            </a:pPr>
            <a:r>
              <a:rPr lang="en-US" sz="1600" dirty="0">
                <a:solidFill>
                  <a:srgbClr val="E2E8F0"/>
                </a:solidFill>
                <a:latin typeface="Calibri" pitchFamily="34" charset="0"/>
                <a:ea typeface="Calibri" pitchFamily="34" charset="-122"/>
                <a:cs typeface="Calibri" pitchFamily="34" charset="-120"/>
              </a:rPr>
              <a:t>Proof-of-concept demonstration  ·  May 2026</a:t>
            </a:r>
            <a:endParaRPr lang="en-US" sz="1600" dirty="0"/>
          </a:p>
        </p:txBody>
      </p:sp>
      <p:sp>
        <p:nvSpPr>
          <p:cNvPr id="7" name="Text 5"/>
          <p:cNvSpPr/>
          <p:nvPr/>
        </p:nvSpPr>
        <p:spPr>
          <a:xfrm>
            <a:off x="731520" y="5760720"/>
            <a:ext cx="10698480" cy="365760"/>
          </a:xfrm>
          <a:prstGeom prst="rect">
            <a:avLst/>
          </a:prstGeom>
          <a:noFill/>
          <a:ln/>
        </p:spPr>
        <p:txBody>
          <a:bodyPr wrap="square" rtlCol="0" anchor="ctr"/>
          <a:lstStyle/>
          <a:p>
            <a:pPr indent="0" marL="0">
              <a:buNone/>
            </a:pPr>
            <a:r>
              <a:rPr lang="en-US" sz="1400" i="1" dirty="0">
                <a:solidFill>
                  <a:srgbClr val="93C5FD"/>
                </a:solidFill>
                <a:latin typeface="Calibri" pitchFamily="34" charset="0"/>
                <a:ea typeface="Calibri" pitchFamily="34" charset="-122"/>
                <a:cs typeface="Calibri" pitchFamily="34" charset="-120"/>
              </a:rPr>
              <a:t>Presented to international colleagues in education</a:t>
            </a:r>
            <a:endParaRPr lang="en-US" sz="1400" dirty="0"/>
          </a:p>
        </p:txBody>
      </p:sp>
      <p:sp>
        <p:nvSpPr>
          <p:cNvPr id="25" name="Slide Number Placeholder 0"/>
          <p:cNvSpPr>
            <a:spLocks noGrp="1"/>
          </p:cNvSpPr>
          <p:nvPr>
            <p:ph type="sldNum" sz="quarter" idx="4294967295"/>
          </p:nvPr>
        </p:nvSpPr>
        <p:spPr>
          <a:xfrm>
            <a:off x="11704320"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334155"/>
                </a:solidFill>
                <a:latin typeface="Calibri"/>
                <a:ea typeface="Calibri"/>
                <a:cs typeface="Calibr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indent="0" marL="0">
              <a:buNone/>
            </a:pPr>
            <a:r>
              <a:rPr lang="en-US" sz="3000" b="1" dirty="0">
                <a:solidFill>
                  <a:srgbClr val="1E3A8A"/>
                </a:solidFill>
                <a:latin typeface="Calibri" pitchFamily="34" charset="0"/>
                <a:ea typeface="Calibri" pitchFamily="34" charset="-122"/>
                <a:cs typeface="Calibri" pitchFamily="34" charset="-120"/>
              </a:rPr>
              <a:t>Why classroom noise matters</a:t>
            </a:r>
            <a:endParaRPr lang="en-US" sz="3000" dirty="0"/>
          </a:p>
        </p:txBody>
      </p:sp>
      <p:sp>
        <p:nvSpPr>
          <p:cNvPr id="3" name="Text 1"/>
          <p:cNvSpPr/>
          <p:nvPr/>
        </p:nvSpPr>
        <p:spPr>
          <a:xfrm>
            <a:off x="548640" y="1051560"/>
            <a:ext cx="10972800" cy="365760"/>
          </a:xfrm>
          <a:prstGeom prst="rect">
            <a:avLst/>
          </a:prstGeom>
          <a:noFill/>
          <a:ln/>
        </p:spPr>
        <p:txBody>
          <a:bodyPr wrap="square" rtlCol="0" anchor="ctr"/>
          <a:lstStyle/>
          <a:p>
            <a:pPr indent="0" marL="0">
              <a:buNone/>
            </a:pPr>
            <a:r>
              <a:rPr lang="en-US" sz="1600" i="1" dirty="0">
                <a:solidFill>
                  <a:srgbClr val="334155"/>
                </a:solidFill>
                <a:latin typeface="Calibri" pitchFamily="34" charset="0"/>
                <a:ea typeface="Calibri" pitchFamily="34" charset="-122"/>
                <a:cs typeface="Calibri" pitchFamily="34" charset="-120"/>
              </a:rPr>
              <a:t>Sound shapes attention, well-being and learning every single minute</a:t>
            </a:r>
            <a:endParaRPr lang="en-US" sz="1600" dirty="0"/>
          </a:p>
        </p:txBody>
      </p:sp>
      <p:sp>
        <p:nvSpPr>
          <p:cNvPr id="4" name="Shape 2"/>
          <p:cNvSpPr/>
          <p:nvPr/>
        </p:nvSpPr>
        <p:spPr>
          <a:xfrm>
            <a:off x="548640" y="1828800"/>
            <a:ext cx="3291840" cy="4023360"/>
          </a:xfrm>
          <a:prstGeom prst="roundRect">
            <a:avLst>
              <a:gd name="adj" fmla="val 2222"/>
            </a:avLst>
          </a:prstGeom>
          <a:solidFill>
            <a:srgbClr val="FFFFFF"/>
          </a:solidFill>
          <a:ln w="9525">
            <a:solidFill>
              <a:srgbClr val="CBD5E1"/>
            </a:solidFill>
            <a:prstDash val="solid"/>
          </a:ln>
          <a:effectLst>
            <a:outerShdw sx="100000" sy="100000" kx="0" ky="0" algn="bl" rotWithShape="0" blurRad="76200" dist="12700" dir="16200000">
              <a:srgbClr val="94A3B8">
                <a:alpha val="15000"/>
              </a:srgbClr>
            </a:outerShdw>
          </a:effectLst>
        </p:spPr>
      </p:sp>
      <p:sp>
        <p:nvSpPr>
          <p:cNvPr id="5" name="Text 3"/>
          <p:cNvSpPr/>
          <p:nvPr/>
        </p:nvSpPr>
        <p:spPr>
          <a:xfrm>
            <a:off x="777240" y="1965960"/>
            <a:ext cx="2834640" cy="502920"/>
          </a:xfrm>
          <a:prstGeom prst="rect">
            <a:avLst/>
          </a:prstGeom>
          <a:noFill/>
          <a:ln/>
        </p:spPr>
        <p:txBody>
          <a:bodyPr wrap="square" rtlCol="0" anchor="ctr"/>
          <a:lstStyle/>
          <a:p>
            <a:pPr indent="0" marL="0">
              <a:buNone/>
            </a:pPr>
            <a:r>
              <a:rPr lang="en-US" sz="2200" b="1" dirty="0">
                <a:solidFill>
                  <a:srgbClr val="1E3A8A"/>
                </a:solidFill>
                <a:latin typeface="Calibri" pitchFamily="34" charset="0"/>
                <a:ea typeface="Calibri" pitchFamily="34" charset="-122"/>
                <a:cs typeface="Calibri" pitchFamily="34" charset="-120"/>
              </a:rPr>
              <a:t>Learning</a:t>
            </a:r>
            <a:endParaRPr lang="en-US" sz="2200" dirty="0"/>
          </a:p>
        </p:txBody>
      </p:sp>
      <p:sp>
        <p:nvSpPr>
          <p:cNvPr id="6" name="Shape 4"/>
          <p:cNvSpPr/>
          <p:nvPr/>
        </p:nvSpPr>
        <p:spPr>
          <a:xfrm>
            <a:off x="777240" y="2514600"/>
            <a:ext cx="731520" cy="45720"/>
          </a:xfrm>
          <a:prstGeom prst="rect">
            <a:avLst/>
          </a:prstGeom>
          <a:solidFill>
            <a:srgbClr val="F59E0B"/>
          </a:solidFill>
          <a:ln w="12700">
            <a:solidFill>
              <a:srgbClr val="F59E0B"/>
            </a:solidFill>
            <a:prstDash val="solid"/>
          </a:ln>
        </p:spPr>
      </p:sp>
      <p:sp>
        <p:nvSpPr>
          <p:cNvPr id="7" name="Text 5"/>
          <p:cNvSpPr/>
          <p:nvPr/>
        </p:nvSpPr>
        <p:spPr>
          <a:xfrm>
            <a:off x="777240" y="2697480"/>
            <a:ext cx="2834640" cy="3017520"/>
          </a:xfrm>
          <a:prstGeom prst="rect">
            <a:avLst/>
          </a:prstGeom>
          <a:noFill/>
          <a:ln/>
        </p:spPr>
        <p:txBody>
          <a:bodyPr wrap="square" rtlCol="0" anchor="ctr"/>
          <a:lstStyle/>
          <a:p>
            <a:pPr algn="just" indent="0" marL="0">
              <a:spcAft>
                <a:spcPts val="600"/>
              </a:spcAft>
              <a:buNone/>
            </a:pPr>
            <a:r>
              <a:rPr lang="en-US" sz="1300" dirty="0">
                <a:solidFill>
                  <a:srgbClr val="0F172A"/>
                </a:solidFill>
                <a:latin typeface="Calibri" pitchFamily="34" charset="0"/>
                <a:ea typeface="Calibri" pitchFamily="34" charset="-122"/>
                <a:cs typeface="Calibri" pitchFamily="34" charset="-120"/>
              </a:rPr>
              <a:t>Background noise above approximately 55 dB measurably reduces reading comprehension and working memory, especially in younger students and language learners working in a second language.</a:t>
            </a:r>
            <a:endParaRPr lang="en-US" sz="1300" dirty="0"/>
          </a:p>
        </p:txBody>
      </p:sp>
      <p:sp>
        <p:nvSpPr>
          <p:cNvPr id="8" name="Shape 6"/>
          <p:cNvSpPr/>
          <p:nvPr/>
        </p:nvSpPr>
        <p:spPr>
          <a:xfrm>
            <a:off x="4434840" y="1828800"/>
            <a:ext cx="3291840" cy="4023360"/>
          </a:xfrm>
          <a:prstGeom prst="roundRect">
            <a:avLst>
              <a:gd name="adj" fmla="val 2222"/>
            </a:avLst>
          </a:prstGeom>
          <a:solidFill>
            <a:srgbClr val="FFFFFF"/>
          </a:solidFill>
          <a:ln w="9525">
            <a:solidFill>
              <a:srgbClr val="CBD5E1"/>
            </a:solidFill>
            <a:prstDash val="solid"/>
          </a:ln>
          <a:effectLst>
            <a:outerShdw sx="100000" sy="100000" kx="0" ky="0" algn="bl" rotWithShape="0" blurRad="76200" dist="12700" dir="16200000">
              <a:srgbClr val="94A3B8">
                <a:alpha val="15000"/>
              </a:srgbClr>
            </a:outerShdw>
          </a:effectLst>
        </p:spPr>
      </p:sp>
      <p:sp>
        <p:nvSpPr>
          <p:cNvPr id="9" name="Text 7"/>
          <p:cNvSpPr/>
          <p:nvPr/>
        </p:nvSpPr>
        <p:spPr>
          <a:xfrm>
            <a:off x="4663440" y="1965960"/>
            <a:ext cx="2834640" cy="502920"/>
          </a:xfrm>
          <a:prstGeom prst="rect">
            <a:avLst/>
          </a:prstGeom>
          <a:noFill/>
          <a:ln/>
        </p:spPr>
        <p:txBody>
          <a:bodyPr wrap="square" rtlCol="0" anchor="ctr"/>
          <a:lstStyle/>
          <a:p>
            <a:pPr indent="0" marL="0">
              <a:buNone/>
            </a:pPr>
            <a:r>
              <a:rPr lang="en-US" sz="2200" b="1" dirty="0">
                <a:solidFill>
                  <a:srgbClr val="1E3A8A"/>
                </a:solidFill>
                <a:latin typeface="Calibri" pitchFamily="34" charset="0"/>
                <a:ea typeface="Calibri" pitchFamily="34" charset="-122"/>
                <a:cs typeface="Calibri" pitchFamily="34" charset="-120"/>
              </a:rPr>
              <a:t>Health</a:t>
            </a:r>
            <a:endParaRPr lang="en-US" sz="2200" dirty="0"/>
          </a:p>
        </p:txBody>
      </p:sp>
      <p:sp>
        <p:nvSpPr>
          <p:cNvPr id="10" name="Shape 8"/>
          <p:cNvSpPr/>
          <p:nvPr/>
        </p:nvSpPr>
        <p:spPr>
          <a:xfrm>
            <a:off x="4663440" y="2514600"/>
            <a:ext cx="731520" cy="45720"/>
          </a:xfrm>
          <a:prstGeom prst="rect">
            <a:avLst/>
          </a:prstGeom>
          <a:solidFill>
            <a:srgbClr val="F59E0B"/>
          </a:solidFill>
          <a:ln w="12700">
            <a:solidFill>
              <a:srgbClr val="F59E0B"/>
            </a:solidFill>
            <a:prstDash val="solid"/>
          </a:ln>
        </p:spPr>
      </p:sp>
      <p:sp>
        <p:nvSpPr>
          <p:cNvPr id="11" name="Text 9"/>
          <p:cNvSpPr/>
          <p:nvPr/>
        </p:nvSpPr>
        <p:spPr>
          <a:xfrm>
            <a:off x="4663440" y="2697480"/>
            <a:ext cx="2834640" cy="3017520"/>
          </a:xfrm>
          <a:prstGeom prst="rect">
            <a:avLst/>
          </a:prstGeom>
          <a:noFill/>
          <a:ln/>
        </p:spPr>
        <p:txBody>
          <a:bodyPr wrap="square" rtlCol="0" anchor="ctr"/>
          <a:lstStyle/>
          <a:p>
            <a:pPr algn="just" indent="0" marL="0">
              <a:spcAft>
                <a:spcPts val="600"/>
              </a:spcAft>
              <a:buNone/>
            </a:pPr>
            <a:r>
              <a:rPr lang="en-US" sz="1300" dirty="0">
                <a:solidFill>
                  <a:srgbClr val="0F172A"/>
                </a:solidFill>
                <a:latin typeface="Calibri" pitchFamily="34" charset="0"/>
                <a:ea typeface="Calibri" pitchFamily="34" charset="-122"/>
                <a:cs typeface="Calibri" pitchFamily="34" charset="-120"/>
              </a:rPr>
              <a:t>Teachers suffer the highest rate of voice disorders of any profession. Sustained classroom noise also raises stress, fatigue and the cognitive load required to stay focused, for both staff and students.</a:t>
            </a:r>
            <a:endParaRPr lang="en-US" sz="1300" dirty="0"/>
          </a:p>
        </p:txBody>
      </p:sp>
      <p:sp>
        <p:nvSpPr>
          <p:cNvPr id="12" name="Shape 10"/>
          <p:cNvSpPr/>
          <p:nvPr/>
        </p:nvSpPr>
        <p:spPr>
          <a:xfrm>
            <a:off x="8321040" y="1828800"/>
            <a:ext cx="3291840" cy="4023360"/>
          </a:xfrm>
          <a:prstGeom prst="roundRect">
            <a:avLst>
              <a:gd name="adj" fmla="val 2222"/>
            </a:avLst>
          </a:prstGeom>
          <a:solidFill>
            <a:srgbClr val="FFFFFF"/>
          </a:solidFill>
          <a:ln w="9525">
            <a:solidFill>
              <a:srgbClr val="CBD5E1"/>
            </a:solidFill>
            <a:prstDash val="solid"/>
          </a:ln>
          <a:effectLst>
            <a:outerShdw sx="100000" sy="100000" kx="0" ky="0" algn="bl" rotWithShape="0" blurRad="76200" dist="12700" dir="16200000">
              <a:srgbClr val="94A3B8">
                <a:alpha val="15000"/>
              </a:srgbClr>
            </a:outerShdw>
          </a:effectLst>
        </p:spPr>
      </p:sp>
      <p:sp>
        <p:nvSpPr>
          <p:cNvPr id="13" name="Text 11"/>
          <p:cNvSpPr/>
          <p:nvPr/>
        </p:nvSpPr>
        <p:spPr>
          <a:xfrm>
            <a:off x="8549640" y="1965960"/>
            <a:ext cx="2834640" cy="502920"/>
          </a:xfrm>
          <a:prstGeom prst="rect">
            <a:avLst/>
          </a:prstGeom>
          <a:noFill/>
          <a:ln/>
        </p:spPr>
        <p:txBody>
          <a:bodyPr wrap="square" rtlCol="0" anchor="ctr"/>
          <a:lstStyle/>
          <a:p>
            <a:pPr indent="0" marL="0">
              <a:buNone/>
            </a:pPr>
            <a:r>
              <a:rPr lang="en-US" sz="2200" b="1" dirty="0">
                <a:solidFill>
                  <a:srgbClr val="1E3A8A"/>
                </a:solidFill>
                <a:latin typeface="Calibri" pitchFamily="34" charset="0"/>
                <a:ea typeface="Calibri" pitchFamily="34" charset="-122"/>
                <a:cs typeface="Calibri" pitchFamily="34" charset="-120"/>
              </a:rPr>
              <a:t>Inclusion</a:t>
            </a:r>
            <a:endParaRPr lang="en-US" sz="2200" dirty="0"/>
          </a:p>
        </p:txBody>
      </p:sp>
      <p:sp>
        <p:nvSpPr>
          <p:cNvPr id="14" name="Shape 12"/>
          <p:cNvSpPr/>
          <p:nvPr/>
        </p:nvSpPr>
        <p:spPr>
          <a:xfrm>
            <a:off x="8549640" y="2514600"/>
            <a:ext cx="731520" cy="45720"/>
          </a:xfrm>
          <a:prstGeom prst="rect">
            <a:avLst/>
          </a:prstGeom>
          <a:solidFill>
            <a:srgbClr val="F59E0B"/>
          </a:solidFill>
          <a:ln w="12700">
            <a:solidFill>
              <a:srgbClr val="F59E0B"/>
            </a:solidFill>
            <a:prstDash val="solid"/>
          </a:ln>
        </p:spPr>
      </p:sp>
      <p:sp>
        <p:nvSpPr>
          <p:cNvPr id="15" name="Text 13"/>
          <p:cNvSpPr/>
          <p:nvPr/>
        </p:nvSpPr>
        <p:spPr>
          <a:xfrm>
            <a:off x="8549640" y="2697480"/>
            <a:ext cx="2834640" cy="3017520"/>
          </a:xfrm>
          <a:prstGeom prst="rect">
            <a:avLst/>
          </a:prstGeom>
          <a:noFill/>
          <a:ln/>
        </p:spPr>
        <p:txBody>
          <a:bodyPr wrap="square" rtlCol="0" anchor="ctr"/>
          <a:lstStyle/>
          <a:p>
            <a:pPr algn="just" indent="0" marL="0">
              <a:spcAft>
                <a:spcPts val="600"/>
              </a:spcAft>
              <a:buNone/>
            </a:pPr>
            <a:r>
              <a:rPr lang="en-US" sz="1300" dirty="0">
                <a:solidFill>
                  <a:srgbClr val="0F172A"/>
                </a:solidFill>
                <a:latin typeface="Calibri" pitchFamily="34" charset="0"/>
                <a:ea typeface="Calibri" pitchFamily="34" charset="-122"/>
                <a:cs typeface="Calibri" pitchFamily="34" charset="-120"/>
              </a:rPr>
              <a:t>Students with hearing aids, autism spectrum profiles, or attention difficulties are disproportionately affected by noisy environments. A quieter, more predictable room is a more inclusive room.</a:t>
            </a:r>
            <a:endParaRPr lang="en-US" sz="1300" dirty="0"/>
          </a:p>
        </p:txBody>
      </p:sp>
      <p:sp>
        <p:nvSpPr>
          <p:cNvPr id="25" name="Slide Number Placeholder 0"/>
          <p:cNvSpPr>
            <a:spLocks noGrp="1"/>
          </p:cNvSpPr>
          <p:nvPr>
            <p:ph type="sldNum" sz="quarter" idx="4294967295"/>
          </p:nvPr>
        </p:nvSpPr>
        <p:spPr>
          <a:xfrm>
            <a:off x="11704320"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334155"/>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indent="0" marL="0">
              <a:buNone/>
            </a:pPr>
            <a:r>
              <a:rPr lang="en-US" sz="3000" b="1" dirty="0">
                <a:solidFill>
                  <a:srgbClr val="1E3A8A"/>
                </a:solidFill>
                <a:latin typeface="Calibri" pitchFamily="34" charset="0"/>
                <a:ea typeface="Calibri" pitchFamily="34" charset="-122"/>
                <a:cs typeface="Calibri" pitchFamily="34" charset="-120"/>
              </a:rPr>
              <a:t>What this project does</a:t>
            </a:r>
            <a:endParaRPr lang="en-US" sz="3000" dirty="0"/>
          </a:p>
        </p:txBody>
      </p:sp>
      <p:sp>
        <p:nvSpPr>
          <p:cNvPr id="3" name="Text 1"/>
          <p:cNvSpPr/>
          <p:nvPr/>
        </p:nvSpPr>
        <p:spPr>
          <a:xfrm>
            <a:off x="548640" y="1051560"/>
            <a:ext cx="10972800" cy="365760"/>
          </a:xfrm>
          <a:prstGeom prst="rect">
            <a:avLst/>
          </a:prstGeom>
          <a:noFill/>
          <a:ln/>
        </p:spPr>
        <p:txBody>
          <a:bodyPr wrap="square" rtlCol="0" anchor="ctr"/>
          <a:lstStyle/>
          <a:p>
            <a:pPr indent="0" marL="0">
              <a:buNone/>
            </a:pPr>
            <a:r>
              <a:rPr lang="en-US" sz="1600" i="1" dirty="0">
                <a:solidFill>
                  <a:srgbClr val="334155"/>
                </a:solidFill>
                <a:latin typeface="Calibri" pitchFamily="34" charset="0"/>
                <a:ea typeface="Calibri" pitchFamily="34" charset="-122"/>
                <a:cs typeface="Calibri" pitchFamily="34" charset="-120"/>
              </a:rPr>
              <a:t>A simple loop: measure, visualise, reflect, act</a:t>
            </a:r>
            <a:endParaRPr lang="en-US" sz="1600" dirty="0"/>
          </a:p>
        </p:txBody>
      </p:sp>
      <p:sp>
        <p:nvSpPr>
          <p:cNvPr id="4" name="Text 2"/>
          <p:cNvSpPr/>
          <p:nvPr/>
        </p:nvSpPr>
        <p:spPr>
          <a:xfrm>
            <a:off x="548640" y="1645920"/>
            <a:ext cx="10972800" cy="4389120"/>
          </a:xfrm>
          <a:prstGeom prst="rect">
            <a:avLst/>
          </a:prstGeom>
          <a:noFill/>
          <a:ln/>
        </p:spPr>
        <p:txBody>
          <a:bodyPr wrap="square" rtlCol="0" anchor="t"/>
          <a:lstStyle/>
          <a:p>
            <a:pPr algn="just" marL="342900" indent="-342900">
              <a:spcAft>
                <a:spcPts val="1000"/>
              </a:spcAft>
              <a:buSzPct val="100000"/>
              <a:buChar char="■"/>
            </a:pPr>
            <a:r>
              <a:rPr lang="en-US" sz="1600" dirty="0">
                <a:solidFill>
                  <a:srgbClr val="0F172A"/>
                </a:solidFill>
                <a:latin typeface="Calibri" pitchFamily="34" charset="0"/>
                <a:ea typeface="Calibri" pitchFamily="34" charset="-122"/>
                <a:cs typeface="Calibri" pitchFamily="34" charset="-120"/>
              </a:rPr>
              <a:t>Several tiny microphones in each classroom continuously measure sound levels in decibels, sampling every few seconds and aggregating into per-minute and per-hour statistics that are kept for the whole school year.</a:t>
            </a:r>
            <a:pPr algn="just" marL="342900" indent="-342900">
              <a:spcAft>
                <a:spcPts val="1000"/>
              </a:spcAft>
              <a:buSzPct val="100000"/>
              <a:buChar char="■"/>
            </a:pPr>
            <a:r>
              <a:rPr lang="en-US" sz="1600" dirty="0">
                <a:solidFill>
                  <a:srgbClr val="0F172A"/>
                </a:solidFill>
                <a:latin typeface="Calibri" pitchFamily="34" charset="0"/>
                <a:ea typeface="Calibri" pitchFamily="34" charset="-122"/>
                <a:cs typeface="Calibri" pitchFamily="34" charset="-120"/>
              </a:rPr>
              <a:t>Each microphone gives instant, ambient visual feedback to students through a coloured LED, so the room can self-regulate without the teacher having to be the noise police.</a:t>
            </a:r>
            <a:pPr algn="just" marL="342900" indent="-342900">
              <a:spcAft>
                <a:spcPts val="1000"/>
              </a:spcAft>
              <a:buSzPct val="100000"/>
              <a:buChar char="■"/>
            </a:pPr>
            <a:r>
              <a:rPr lang="en-US" sz="1600" dirty="0">
                <a:solidFill>
                  <a:srgbClr val="0F172A"/>
                </a:solidFill>
                <a:latin typeface="Calibri" pitchFamily="34" charset="0"/>
                <a:ea typeface="Calibri" pitchFamily="34" charset="-122"/>
                <a:cs typeface="Calibri" pitchFamily="34" charset="-120"/>
              </a:rPr>
              <a:t>All readings stream to a single web dashboard that any teacher can open from any device in or outside of the school, protected by a password.</a:t>
            </a:r>
            <a:pPr algn="just" marL="342900" indent="-342900">
              <a:spcAft>
                <a:spcPts val="1000"/>
              </a:spcAft>
              <a:buSzPct val="100000"/>
              <a:buChar char="■"/>
            </a:pPr>
            <a:r>
              <a:rPr lang="en-US" sz="1600" dirty="0">
                <a:solidFill>
                  <a:srgbClr val="0F172A"/>
                </a:solidFill>
                <a:latin typeface="Calibri" pitchFamily="34" charset="0"/>
                <a:ea typeface="Calibri" pitchFamily="34" charset="-122"/>
                <a:cs typeface="Calibri" pitchFamily="34" charset="-120"/>
              </a:rPr>
              <a:t>Historical data allows the school to compare rooms, days, lessons and entire academic years to inform decisions about acoustics, schedules and pedagogy.</a:t>
            </a:r>
            <a:pPr algn="just" marL="342900" indent="-342900">
              <a:spcAft>
                <a:spcPts val="1000"/>
              </a:spcAft>
              <a:buSzPct val="100000"/>
              <a:buChar char="■"/>
            </a:pPr>
            <a:r>
              <a:rPr lang="en-US" sz="1600" dirty="0">
                <a:solidFill>
                  <a:srgbClr val="0F172A"/>
                </a:solidFill>
                <a:latin typeface="Calibri" pitchFamily="34" charset="0"/>
                <a:ea typeface="Calibri" pitchFamily="34" charset="-122"/>
                <a:cs typeface="Calibri" pitchFamily="34" charset="-120"/>
              </a:rPr>
              <a:t>The whole stack is open source, runs on a free public MQTT broker, and exposes itself through a free HTTPS tunnel — no school IT changes are required.</a:t>
            </a:r>
            <a:endParaRPr lang="en-US" sz="1600" dirty="0"/>
          </a:p>
        </p:txBody>
      </p:sp>
      <p:sp>
        <p:nvSpPr>
          <p:cNvPr id="25" name="Slide Number Placeholder 0"/>
          <p:cNvSpPr>
            <a:spLocks noGrp="1"/>
          </p:cNvSpPr>
          <p:nvPr>
            <p:ph type="sldNum" sz="quarter" idx="4294967295"/>
          </p:nvPr>
        </p:nvSpPr>
        <p:spPr>
          <a:xfrm>
            <a:off x="11704320"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334155"/>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indent="0" marL="0">
              <a:buNone/>
            </a:pPr>
            <a:r>
              <a:rPr lang="en-US" sz="3000" b="1" dirty="0">
                <a:solidFill>
                  <a:srgbClr val="1E3A8A"/>
                </a:solidFill>
                <a:latin typeface="Calibri" pitchFamily="34" charset="0"/>
                <a:ea typeface="Calibri" pitchFamily="34" charset="-122"/>
                <a:cs typeface="Calibri" pitchFamily="34" charset="-120"/>
              </a:rPr>
              <a:t>Two architectures we evaluated</a:t>
            </a:r>
            <a:endParaRPr lang="en-US" sz="3000" dirty="0"/>
          </a:p>
        </p:txBody>
      </p:sp>
      <p:sp>
        <p:nvSpPr>
          <p:cNvPr id="3" name="Text 1"/>
          <p:cNvSpPr/>
          <p:nvPr/>
        </p:nvSpPr>
        <p:spPr>
          <a:xfrm>
            <a:off x="548640" y="1051560"/>
            <a:ext cx="10972800" cy="365760"/>
          </a:xfrm>
          <a:prstGeom prst="rect">
            <a:avLst/>
          </a:prstGeom>
          <a:noFill/>
          <a:ln/>
        </p:spPr>
        <p:txBody>
          <a:bodyPr wrap="square" rtlCol="0" anchor="ctr"/>
          <a:lstStyle/>
          <a:p>
            <a:pPr indent="0" marL="0">
              <a:buNone/>
            </a:pPr>
            <a:r>
              <a:rPr lang="en-US" sz="1600" i="1" dirty="0">
                <a:solidFill>
                  <a:srgbClr val="334155"/>
                </a:solidFill>
                <a:latin typeface="Calibri" pitchFamily="34" charset="0"/>
                <a:ea typeface="Calibri" pitchFamily="34" charset="-122"/>
                <a:cs typeface="Calibri" pitchFamily="34" charset="-120"/>
              </a:rPr>
              <a:t>One big central microphone, or a swarm of small ones — and why we chose the swarm</a:t>
            </a:r>
            <a:endParaRPr lang="en-US" sz="1600" dirty="0"/>
          </a:p>
        </p:txBody>
      </p:sp>
      <p:sp>
        <p:nvSpPr>
          <p:cNvPr id="4" name="Shape 2"/>
          <p:cNvSpPr/>
          <p:nvPr/>
        </p:nvSpPr>
        <p:spPr>
          <a:xfrm>
            <a:off x="548640" y="1645920"/>
            <a:ext cx="5486400" cy="4663440"/>
          </a:xfrm>
          <a:prstGeom prst="roundRect">
            <a:avLst>
              <a:gd name="adj" fmla="val 1569"/>
            </a:avLst>
          </a:prstGeom>
          <a:solidFill>
            <a:srgbClr val="FFFFFF"/>
          </a:solidFill>
          <a:ln w="9525">
            <a:solidFill>
              <a:srgbClr val="CBD5E1"/>
            </a:solidFill>
            <a:prstDash val="solid"/>
          </a:ln>
          <a:effectLst>
            <a:outerShdw sx="100000" sy="100000" kx="0" ky="0" algn="bl" rotWithShape="0" blurRad="76200" dist="12700" dir="16200000">
              <a:srgbClr val="94A3B8">
                <a:alpha val="15000"/>
              </a:srgbClr>
            </a:outerShdw>
          </a:effectLst>
        </p:spPr>
      </p:sp>
      <p:sp>
        <p:nvSpPr>
          <p:cNvPr id="5" name="Text 3"/>
          <p:cNvSpPr/>
          <p:nvPr/>
        </p:nvSpPr>
        <p:spPr>
          <a:xfrm>
            <a:off x="777240" y="1783080"/>
            <a:ext cx="5120640" cy="457200"/>
          </a:xfrm>
          <a:prstGeom prst="rect">
            <a:avLst/>
          </a:prstGeom>
          <a:noFill/>
          <a:ln/>
        </p:spPr>
        <p:txBody>
          <a:bodyPr wrap="square" rtlCol="0" anchor="ctr"/>
          <a:lstStyle/>
          <a:p>
            <a:pPr indent="0" marL="0">
              <a:buNone/>
            </a:pPr>
            <a:r>
              <a:rPr lang="en-US" sz="1800" b="1" dirty="0">
                <a:solidFill>
                  <a:srgbClr val="1E3A8A"/>
                </a:solidFill>
                <a:latin typeface="Calibri" pitchFamily="34" charset="0"/>
                <a:ea typeface="Calibri" pitchFamily="34" charset="-122"/>
                <a:cs typeface="Calibri" pitchFamily="34" charset="-120"/>
              </a:rPr>
              <a:t>Option A  ·  One central microphone</a:t>
            </a:r>
            <a:endParaRPr lang="en-US" sz="1800" dirty="0"/>
          </a:p>
        </p:txBody>
      </p:sp>
      <p:sp>
        <p:nvSpPr>
          <p:cNvPr id="6" name="Shape 4"/>
          <p:cNvSpPr/>
          <p:nvPr/>
        </p:nvSpPr>
        <p:spPr>
          <a:xfrm>
            <a:off x="868680" y="2331720"/>
            <a:ext cx="4846320" cy="1371600"/>
          </a:xfrm>
          <a:prstGeom prst="rect">
            <a:avLst/>
          </a:prstGeom>
          <a:solidFill>
            <a:srgbClr val="EFF6FF"/>
          </a:solidFill>
          <a:ln w="9525">
            <a:solidFill>
              <a:srgbClr val="CBD5E1"/>
            </a:solidFill>
            <a:prstDash val="solid"/>
          </a:ln>
        </p:spPr>
      </p:sp>
      <p:sp>
        <p:nvSpPr>
          <p:cNvPr id="7" name="Shape 5"/>
          <p:cNvSpPr/>
          <p:nvPr/>
        </p:nvSpPr>
        <p:spPr>
          <a:xfrm>
            <a:off x="2971800" y="2606040"/>
            <a:ext cx="822960" cy="822960"/>
          </a:xfrm>
          <a:prstGeom prst="ellipse">
            <a:avLst/>
          </a:prstGeom>
          <a:solidFill>
            <a:srgbClr val="3B82F6"/>
          </a:solidFill>
          <a:ln w="12700">
            <a:solidFill>
              <a:srgbClr val="3B82F6"/>
            </a:solidFill>
            <a:prstDash val="solid"/>
          </a:ln>
        </p:spPr>
      </p:sp>
      <p:sp>
        <p:nvSpPr>
          <p:cNvPr id="8" name="Text 6"/>
          <p:cNvSpPr/>
          <p:nvPr/>
        </p:nvSpPr>
        <p:spPr>
          <a:xfrm>
            <a:off x="868680" y="3429000"/>
            <a:ext cx="4846320" cy="274320"/>
          </a:xfrm>
          <a:prstGeom prst="rect">
            <a:avLst/>
          </a:prstGeom>
          <a:noFill/>
          <a:ln/>
        </p:spPr>
        <p:txBody>
          <a:bodyPr wrap="square" rtlCol="0" anchor="ctr"/>
          <a:lstStyle/>
          <a:p>
            <a:pPr algn="ctr" indent="0" marL="0">
              <a:buNone/>
            </a:pPr>
            <a:r>
              <a:rPr lang="en-US" sz="1100" i="1" dirty="0">
                <a:solidFill>
                  <a:srgbClr val="334155"/>
                </a:solidFill>
                <a:latin typeface="Calibri" pitchFamily="34" charset="0"/>
                <a:ea typeface="Calibri" pitchFamily="34" charset="-122"/>
                <a:cs typeface="Calibri" pitchFamily="34" charset="-120"/>
              </a:rPr>
              <a:t>Classroom</a:t>
            </a:r>
            <a:endParaRPr lang="en-US" sz="1100" dirty="0"/>
          </a:p>
        </p:txBody>
      </p:sp>
      <p:sp>
        <p:nvSpPr>
          <p:cNvPr id="9" name="Text 7"/>
          <p:cNvSpPr/>
          <p:nvPr/>
        </p:nvSpPr>
        <p:spPr>
          <a:xfrm>
            <a:off x="777240" y="3749040"/>
            <a:ext cx="5120640" cy="2468880"/>
          </a:xfrm>
          <a:prstGeom prst="rect">
            <a:avLst/>
          </a:prstGeom>
          <a:noFill/>
          <a:ln/>
        </p:spPr>
        <p:txBody>
          <a:bodyPr wrap="square" rtlCol="0" anchor="t"/>
          <a:lstStyle/>
          <a:p>
            <a:pPr algn="just" marL="342900" indent="-342900">
              <a:spcAft>
                <a:spcPts val="1000"/>
              </a:spcAft>
              <a:buSzPct val="100000"/>
              <a:buChar char="■"/>
            </a:pPr>
            <a:r>
              <a:rPr lang="en-US" sz="1200" dirty="0">
                <a:solidFill>
                  <a:srgbClr val="0F172A"/>
                </a:solidFill>
                <a:latin typeface="Calibri" pitchFamily="34" charset="0"/>
                <a:ea typeface="Calibri" pitchFamily="34" charset="-122"/>
                <a:cs typeface="Calibri" pitchFamily="34" charset="-120"/>
              </a:rPr>
              <a:t>Simpler to install: a single device, a single power point.</a:t>
            </a:r>
            <a:pPr algn="just" marL="342900" indent="-342900">
              <a:spcAft>
                <a:spcPts val="1000"/>
              </a:spcAft>
              <a:buSzPct val="100000"/>
              <a:buChar char="■"/>
            </a:pPr>
            <a:r>
              <a:rPr lang="en-US" sz="1200" dirty="0">
                <a:solidFill>
                  <a:srgbClr val="0F172A"/>
                </a:solidFill>
                <a:latin typeface="Calibri" pitchFamily="34" charset="0"/>
                <a:ea typeface="Calibri" pitchFamily="34" charset="-122"/>
                <a:cs typeface="Calibri" pitchFamily="34" charset="-120"/>
              </a:rPr>
              <a:t>Captures one viewpoint of the room — usually the centre or the teacher's desk.</a:t>
            </a:r>
            <a:pPr algn="just" marL="342900" indent="-342900">
              <a:spcAft>
                <a:spcPts val="1000"/>
              </a:spcAft>
              <a:buSzPct val="100000"/>
              <a:buChar char="■"/>
            </a:pPr>
            <a:r>
              <a:rPr lang="en-US" sz="1200" dirty="0">
                <a:solidFill>
                  <a:srgbClr val="0F172A"/>
                </a:solidFill>
                <a:latin typeface="Calibri" pitchFamily="34" charset="0"/>
                <a:ea typeface="Calibri" pitchFamily="34" charset="-122"/>
                <a:cs typeface="Calibri" pitchFamily="34" charset="-120"/>
              </a:rPr>
              <a:t>A single point of failure: if it fails, the room goes dark.</a:t>
            </a:r>
            <a:pPr algn="just" marL="342900" indent="-342900">
              <a:spcAft>
                <a:spcPts val="1000"/>
              </a:spcAft>
              <a:buSzPct val="100000"/>
              <a:buChar char="■"/>
            </a:pPr>
            <a:r>
              <a:rPr lang="en-US" sz="1200" dirty="0">
                <a:solidFill>
                  <a:srgbClr val="0F172A"/>
                </a:solidFill>
                <a:latin typeface="Calibri" pitchFamily="34" charset="0"/>
                <a:ea typeface="Calibri" pitchFamily="34" charset="-122"/>
                <a:cs typeface="Calibri" pitchFamily="34" charset="-120"/>
              </a:rPr>
              <a:t>Tends to over-weight the loudest local source (the closest table).</a:t>
            </a:r>
            <a:pPr algn="just" marL="342900" indent="-342900">
              <a:spcAft>
                <a:spcPts val="1000"/>
              </a:spcAft>
              <a:buSzPct val="100000"/>
              <a:buChar char="■"/>
            </a:pPr>
            <a:r>
              <a:rPr lang="en-US" sz="1200" dirty="0">
                <a:solidFill>
                  <a:srgbClr val="0F172A"/>
                </a:solidFill>
                <a:latin typeface="Calibri" pitchFamily="34" charset="0"/>
                <a:ea typeface="Calibri" pitchFamily="34" charset="-122"/>
                <a:cs typeface="Calibri" pitchFamily="34" charset="-120"/>
              </a:rPr>
              <a:t>Cheaper per room, but the cost-per-coverage is actually worse.</a:t>
            </a:r>
            <a:endParaRPr lang="en-US" sz="1200" dirty="0"/>
          </a:p>
        </p:txBody>
      </p:sp>
      <p:sp>
        <p:nvSpPr>
          <p:cNvPr id="10" name="Shape 8"/>
          <p:cNvSpPr/>
          <p:nvPr/>
        </p:nvSpPr>
        <p:spPr>
          <a:xfrm>
            <a:off x="6126480" y="1645920"/>
            <a:ext cx="5577840" cy="4663440"/>
          </a:xfrm>
          <a:prstGeom prst="roundRect">
            <a:avLst>
              <a:gd name="adj" fmla="val 1569"/>
            </a:avLst>
          </a:prstGeom>
          <a:solidFill>
            <a:srgbClr val="ECFDF5"/>
          </a:solidFill>
          <a:ln w="9525">
            <a:solidFill>
              <a:srgbClr val="CBD5E1"/>
            </a:solidFill>
            <a:prstDash val="solid"/>
          </a:ln>
          <a:effectLst>
            <a:outerShdw sx="100000" sy="100000" kx="0" ky="0" algn="bl" rotWithShape="0" blurRad="76200" dist="12700" dir="16200000">
              <a:srgbClr val="94A3B8">
                <a:alpha val="15000"/>
              </a:srgbClr>
            </a:outerShdw>
          </a:effectLst>
        </p:spPr>
      </p:sp>
      <p:sp>
        <p:nvSpPr>
          <p:cNvPr id="11" name="Shape 9"/>
          <p:cNvSpPr/>
          <p:nvPr/>
        </p:nvSpPr>
        <p:spPr>
          <a:xfrm>
            <a:off x="10607040" y="1783080"/>
            <a:ext cx="1005840" cy="365760"/>
          </a:xfrm>
          <a:prstGeom prst="roundRect">
            <a:avLst>
              <a:gd name="adj" fmla="val 12500"/>
            </a:avLst>
          </a:prstGeom>
          <a:solidFill>
            <a:srgbClr val="10B981"/>
          </a:solidFill>
          <a:ln w="12700">
            <a:solidFill>
              <a:srgbClr val="10B981"/>
            </a:solidFill>
            <a:prstDash val="solid"/>
          </a:ln>
        </p:spPr>
      </p:sp>
      <p:sp>
        <p:nvSpPr>
          <p:cNvPr id="12" name="Text 10"/>
          <p:cNvSpPr/>
          <p:nvPr/>
        </p:nvSpPr>
        <p:spPr>
          <a:xfrm>
            <a:off x="10607040" y="1819656"/>
            <a:ext cx="1005840"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Chosen</a:t>
            </a:r>
            <a:endParaRPr lang="en-US" sz="1100" dirty="0"/>
          </a:p>
        </p:txBody>
      </p:sp>
      <p:sp>
        <p:nvSpPr>
          <p:cNvPr id="13" name="Text 11"/>
          <p:cNvSpPr/>
          <p:nvPr/>
        </p:nvSpPr>
        <p:spPr>
          <a:xfrm>
            <a:off x="6355080" y="1783080"/>
            <a:ext cx="4114800" cy="457200"/>
          </a:xfrm>
          <a:prstGeom prst="rect">
            <a:avLst/>
          </a:prstGeom>
          <a:noFill/>
          <a:ln/>
        </p:spPr>
        <p:txBody>
          <a:bodyPr wrap="square" rtlCol="0" anchor="ctr"/>
          <a:lstStyle/>
          <a:p>
            <a:pPr indent="0" marL="0">
              <a:buNone/>
            </a:pPr>
            <a:r>
              <a:rPr lang="en-US" sz="1800" b="1" dirty="0">
                <a:solidFill>
                  <a:srgbClr val="065F46"/>
                </a:solidFill>
                <a:latin typeface="Calibri" pitchFamily="34" charset="0"/>
                <a:ea typeface="Calibri" pitchFamily="34" charset="-122"/>
                <a:cs typeface="Calibri" pitchFamily="34" charset="-120"/>
              </a:rPr>
              <a:t>Option B  ·  Six distributed mini-microphones</a:t>
            </a:r>
            <a:endParaRPr lang="en-US" sz="1800" dirty="0"/>
          </a:p>
        </p:txBody>
      </p:sp>
      <p:sp>
        <p:nvSpPr>
          <p:cNvPr id="14" name="Shape 12"/>
          <p:cNvSpPr/>
          <p:nvPr/>
        </p:nvSpPr>
        <p:spPr>
          <a:xfrm>
            <a:off x="6446520" y="2331720"/>
            <a:ext cx="5120640" cy="1371600"/>
          </a:xfrm>
          <a:prstGeom prst="rect">
            <a:avLst/>
          </a:prstGeom>
          <a:solidFill>
            <a:srgbClr val="D1FAE5"/>
          </a:solidFill>
          <a:ln w="9525">
            <a:solidFill>
              <a:srgbClr val="10B981"/>
            </a:solidFill>
            <a:prstDash val="solid"/>
          </a:ln>
        </p:spPr>
      </p:sp>
      <p:sp>
        <p:nvSpPr>
          <p:cNvPr id="15" name="Shape 13"/>
          <p:cNvSpPr/>
          <p:nvPr/>
        </p:nvSpPr>
        <p:spPr>
          <a:xfrm>
            <a:off x="6903720" y="2606040"/>
            <a:ext cx="457200" cy="457200"/>
          </a:xfrm>
          <a:prstGeom prst="ellipse">
            <a:avLst/>
          </a:prstGeom>
          <a:solidFill>
            <a:srgbClr val="10B981"/>
          </a:solidFill>
          <a:ln w="12700">
            <a:solidFill>
              <a:srgbClr val="10B981"/>
            </a:solidFill>
            <a:prstDash val="solid"/>
          </a:ln>
        </p:spPr>
      </p:sp>
      <p:sp>
        <p:nvSpPr>
          <p:cNvPr id="16" name="Shape 14"/>
          <p:cNvSpPr/>
          <p:nvPr/>
        </p:nvSpPr>
        <p:spPr>
          <a:xfrm>
            <a:off x="8778240" y="2606040"/>
            <a:ext cx="457200" cy="457200"/>
          </a:xfrm>
          <a:prstGeom prst="ellipse">
            <a:avLst/>
          </a:prstGeom>
          <a:solidFill>
            <a:srgbClr val="10B981"/>
          </a:solidFill>
          <a:ln w="12700">
            <a:solidFill>
              <a:srgbClr val="10B981"/>
            </a:solidFill>
            <a:prstDash val="solid"/>
          </a:ln>
        </p:spPr>
      </p:sp>
      <p:sp>
        <p:nvSpPr>
          <p:cNvPr id="17" name="Shape 15"/>
          <p:cNvSpPr/>
          <p:nvPr/>
        </p:nvSpPr>
        <p:spPr>
          <a:xfrm>
            <a:off x="10652760" y="2606040"/>
            <a:ext cx="457200" cy="457200"/>
          </a:xfrm>
          <a:prstGeom prst="ellipse">
            <a:avLst/>
          </a:prstGeom>
          <a:solidFill>
            <a:srgbClr val="10B981"/>
          </a:solidFill>
          <a:ln w="12700">
            <a:solidFill>
              <a:srgbClr val="10B981"/>
            </a:solidFill>
            <a:prstDash val="solid"/>
          </a:ln>
        </p:spPr>
      </p:sp>
      <p:sp>
        <p:nvSpPr>
          <p:cNvPr id="18" name="Shape 16"/>
          <p:cNvSpPr/>
          <p:nvPr/>
        </p:nvSpPr>
        <p:spPr>
          <a:xfrm>
            <a:off x="6903720" y="3246120"/>
            <a:ext cx="457200" cy="457200"/>
          </a:xfrm>
          <a:prstGeom prst="ellipse">
            <a:avLst/>
          </a:prstGeom>
          <a:solidFill>
            <a:srgbClr val="10B981"/>
          </a:solidFill>
          <a:ln w="12700">
            <a:solidFill>
              <a:srgbClr val="10B981"/>
            </a:solidFill>
            <a:prstDash val="solid"/>
          </a:ln>
        </p:spPr>
      </p:sp>
      <p:sp>
        <p:nvSpPr>
          <p:cNvPr id="19" name="Shape 17"/>
          <p:cNvSpPr/>
          <p:nvPr/>
        </p:nvSpPr>
        <p:spPr>
          <a:xfrm>
            <a:off x="8778240" y="3246120"/>
            <a:ext cx="457200" cy="457200"/>
          </a:xfrm>
          <a:prstGeom prst="ellipse">
            <a:avLst/>
          </a:prstGeom>
          <a:solidFill>
            <a:srgbClr val="10B981"/>
          </a:solidFill>
          <a:ln w="12700">
            <a:solidFill>
              <a:srgbClr val="10B981"/>
            </a:solidFill>
            <a:prstDash val="solid"/>
          </a:ln>
        </p:spPr>
      </p:sp>
      <p:sp>
        <p:nvSpPr>
          <p:cNvPr id="20" name="Shape 18"/>
          <p:cNvSpPr/>
          <p:nvPr/>
        </p:nvSpPr>
        <p:spPr>
          <a:xfrm>
            <a:off x="10652760" y="3246120"/>
            <a:ext cx="457200" cy="457200"/>
          </a:xfrm>
          <a:prstGeom prst="ellipse">
            <a:avLst/>
          </a:prstGeom>
          <a:solidFill>
            <a:srgbClr val="10B981"/>
          </a:solidFill>
          <a:ln w="12700">
            <a:solidFill>
              <a:srgbClr val="10B981"/>
            </a:solidFill>
            <a:prstDash val="solid"/>
          </a:ln>
        </p:spPr>
      </p:sp>
      <p:sp>
        <p:nvSpPr>
          <p:cNvPr id="21" name="Text 19"/>
          <p:cNvSpPr/>
          <p:nvPr/>
        </p:nvSpPr>
        <p:spPr>
          <a:xfrm>
            <a:off x="6446520" y="3429000"/>
            <a:ext cx="5120640" cy="274320"/>
          </a:xfrm>
          <a:prstGeom prst="rect">
            <a:avLst/>
          </a:prstGeom>
          <a:noFill/>
          <a:ln/>
        </p:spPr>
        <p:txBody>
          <a:bodyPr wrap="square" rtlCol="0" anchor="ctr"/>
          <a:lstStyle/>
          <a:p>
            <a:pPr algn="ctr" indent="0" marL="0">
              <a:buNone/>
            </a:pPr>
            <a:r>
              <a:rPr lang="en-US" sz="1100" i="1" dirty="0">
                <a:solidFill>
                  <a:srgbClr val="065F46"/>
                </a:solidFill>
                <a:latin typeface="Calibri" pitchFamily="34" charset="0"/>
                <a:ea typeface="Calibri" pitchFamily="34" charset="-122"/>
                <a:cs typeface="Calibri" pitchFamily="34" charset="-120"/>
              </a:rPr>
              <a:t>Classroom (one room, six listening points)</a:t>
            </a:r>
            <a:endParaRPr lang="en-US" sz="1100" dirty="0"/>
          </a:p>
        </p:txBody>
      </p:sp>
      <p:sp>
        <p:nvSpPr>
          <p:cNvPr id="22" name="Text 20"/>
          <p:cNvSpPr/>
          <p:nvPr/>
        </p:nvSpPr>
        <p:spPr>
          <a:xfrm>
            <a:off x="6355080" y="3749040"/>
            <a:ext cx="5212080" cy="2468880"/>
          </a:xfrm>
          <a:prstGeom prst="rect">
            <a:avLst/>
          </a:prstGeom>
          <a:noFill/>
          <a:ln/>
        </p:spPr>
        <p:txBody>
          <a:bodyPr wrap="square" rtlCol="0" anchor="t"/>
          <a:lstStyle/>
          <a:p>
            <a:pPr algn="just" marL="342900" indent="-342900">
              <a:spcAft>
                <a:spcPts val="1000"/>
              </a:spcAft>
              <a:buSzPct val="100000"/>
              <a:buChar char="■"/>
            </a:pPr>
            <a:r>
              <a:rPr lang="en-US" sz="1200" dirty="0">
                <a:solidFill>
                  <a:srgbClr val="0F172A"/>
                </a:solidFill>
                <a:latin typeface="Calibri" pitchFamily="34" charset="0"/>
                <a:ea typeface="Calibri" pitchFamily="34" charset="-122"/>
                <a:cs typeface="Calibri" pitchFamily="34" charset="-120"/>
              </a:rPr>
              <a:t>Real spatial coverage — picks up where the students actually sit, not only at the teacher's desk.</a:t>
            </a:r>
            <a:pPr algn="just" marL="342900" indent="-342900">
              <a:spcAft>
                <a:spcPts val="1000"/>
              </a:spcAft>
              <a:buSzPct val="100000"/>
              <a:buChar char="■"/>
            </a:pPr>
            <a:r>
              <a:rPr lang="en-US" sz="1200" dirty="0">
                <a:solidFill>
                  <a:srgbClr val="0F172A"/>
                </a:solidFill>
                <a:latin typeface="Calibri" pitchFamily="34" charset="0"/>
                <a:ea typeface="Calibri" pitchFamily="34" charset="-122"/>
                <a:cs typeface="Calibri" pitchFamily="34" charset="-120"/>
              </a:rPr>
              <a:t>Median across mics filters out a single noisy table without losing real signal.</a:t>
            </a:r>
            <a:pPr algn="just" marL="342900" indent="-342900">
              <a:spcAft>
                <a:spcPts val="1000"/>
              </a:spcAft>
              <a:buSzPct val="100000"/>
              <a:buChar char="■"/>
            </a:pPr>
            <a:r>
              <a:rPr lang="en-US" sz="1200" dirty="0">
                <a:solidFill>
                  <a:srgbClr val="0F172A"/>
                </a:solidFill>
                <a:latin typeface="Calibri" pitchFamily="34" charset="0"/>
                <a:ea typeface="Calibri" pitchFamily="34" charset="-122"/>
                <a:cs typeface="Calibri" pitchFamily="34" charset="-120"/>
              </a:rPr>
              <a:t>Graceful degradation: if one mic dies, the room still reports a value.</a:t>
            </a:r>
            <a:pPr algn="just" marL="342900" indent="-342900">
              <a:spcAft>
                <a:spcPts val="1000"/>
              </a:spcAft>
              <a:buSzPct val="100000"/>
              <a:buChar char="■"/>
            </a:pPr>
            <a:r>
              <a:rPr lang="en-US" sz="1200" dirty="0">
                <a:solidFill>
                  <a:srgbClr val="0F172A"/>
                </a:solidFill>
                <a:latin typeface="Calibri" pitchFamily="34" charset="0"/>
                <a:ea typeface="Calibri" pitchFamily="34" charset="-122"/>
                <a:cs typeface="Calibri" pitchFamily="34" charset="-120"/>
              </a:rPr>
              <a:t>Same total cost ballpark — six ESP32 boards beat one industrial sensor.</a:t>
            </a:r>
            <a:pPr algn="just" marL="342900" indent="-342900">
              <a:spcAft>
                <a:spcPts val="1000"/>
              </a:spcAft>
              <a:buSzPct val="100000"/>
              <a:buChar char="■"/>
            </a:pPr>
            <a:r>
              <a:rPr lang="en-US" sz="1200" dirty="0">
                <a:solidFill>
                  <a:srgbClr val="0F172A"/>
                </a:solidFill>
                <a:latin typeface="Calibri" pitchFamily="34" charset="0"/>
                <a:ea typeface="Calibri" pitchFamily="34" charset="-122"/>
                <a:cs typeface="Calibri" pitchFamily="34" charset="-120"/>
              </a:rPr>
              <a:t>Enables future work: heatmaps, identifying loud spots inside the same room.</a:t>
            </a:r>
            <a:endParaRPr lang="en-US" sz="1200" dirty="0"/>
          </a:p>
        </p:txBody>
      </p:sp>
      <p:sp>
        <p:nvSpPr>
          <p:cNvPr id="25" name="Slide Number Placeholder 0"/>
          <p:cNvSpPr>
            <a:spLocks noGrp="1"/>
          </p:cNvSpPr>
          <p:nvPr>
            <p:ph type="sldNum" sz="quarter" idx="4294967295"/>
          </p:nvPr>
        </p:nvSpPr>
        <p:spPr>
          <a:xfrm>
            <a:off x="11704320"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334155"/>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indent="0" marL="0">
              <a:buNone/>
            </a:pPr>
            <a:r>
              <a:rPr lang="en-US" sz="3000" b="1" dirty="0">
                <a:solidFill>
                  <a:srgbClr val="1E3A8A"/>
                </a:solidFill>
                <a:latin typeface="Calibri" pitchFamily="34" charset="0"/>
                <a:ea typeface="Calibri" pitchFamily="34" charset="-122"/>
                <a:cs typeface="Calibri" pitchFamily="34" charset="-120"/>
              </a:rPr>
              <a:t>How it works end-to-end</a:t>
            </a:r>
            <a:endParaRPr lang="en-US" sz="3000" dirty="0"/>
          </a:p>
        </p:txBody>
      </p:sp>
      <p:sp>
        <p:nvSpPr>
          <p:cNvPr id="3" name="Text 1"/>
          <p:cNvSpPr/>
          <p:nvPr/>
        </p:nvSpPr>
        <p:spPr>
          <a:xfrm>
            <a:off x="548640" y="1051560"/>
            <a:ext cx="10972800" cy="365760"/>
          </a:xfrm>
          <a:prstGeom prst="rect">
            <a:avLst/>
          </a:prstGeom>
          <a:noFill/>
          <a:ln/>
        </p:spPr>
        <p:txBody>
          <a:bodyPr wrap="square" rtlCol="0" anchor="ctr"/>
          <a:lstStyle/>
          <a:p>
            <a:pPr indent="0" marL="0">
              <a:buNone/>
            </a:pPr>
            <a:r>
              <a:rPr lang="en-US" sz="1600" i="1" dirty="0">
                <a:solidFill>
                  <a:srgbClr val="334155"/>
                </a:solidFill>
                <a:latin typeface="Calibri" pitchFamily="34" charset="0"/>
                <a:ea typeface="Calibri" pitchFamily="34" charset="-122"/>
                <a:cs typeface="Calibri" pitchFamily="34" charset="-120"/>
              </a:rPr>
              <a:t>From the classroom to the cloud, in a few hops</a:t>
            </a:r>
            <a:endParaRPr lang="en-US" sz="1600" dirty="0"/>
          </a:p>
        </p:txBody>
      </p:sp>
      <p:sp>
        <p:nvSpPr>
          <p:cNvPr id="4" name="Shape 2"/>
          <p:cNvSpPr/>
          <p:nvPr/>
        </p:nvSpPr>
        <p:spPr>
          <a:xfrm>
            <a:off x="548640" y="2194560"/>
            <a:ext cx="1463040" cy="1554480"/>
          </a:xfrm>
          <a:prstGeom prst="roundRect">
            <a:avLst>
              <a:gd name="adj" fmla="val 5000"/>
            </a:avLst>
          </a:prstGeom>
          <a:solidFill>
            <a:srgbClr val="1E3A8A"/>
          </a:solidFill>
          <a:ln w="12700">
            <a:solidFill>
              <a:srgbClr val="1E3A8A"/>
            </a:solidFill>
            <a:prstDash val="solid"/>
          </a:ln>
        </p:spPr>
      </p:sp>
      <p:sp>
        <p:nvSpPr>
          <p:cNvPr id="5" name="Text 3"/>
          <p:cNvSpPr/>
          <p:nvPr/>
        </p:nvSpPr>
        <p:spPr>
          <a:xfrm>
            <a:off x="548640" y="2377440"/>
            <a:ext cx="1463040" cy="5486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Classroom mics</a:t>
            </a:r>
            <a:endParaRPr lang="en-US" sz="1300" dirty="0"/>
          </a:p>
        </p:txBody>
      </p:sp>
      <p:sp>
        <p:nvSpPr>
          <p:cNvPr id="6" name="Text 4"/>
          <p:cNvSpPr/>
          <p:nvPr/>
        </p:nvSpPr>
        <p:spPr>
          <a:xfrm>
            <a:off x="548640" y="2971800"/>
            <a:ext cx="1463040" cy="457200"/>
          </a:xfrm>
          <a:prstGeom prst="rect">
            <a:avLst/>
          </a:prstGeom>
          <a:noFill/>
          <a:ln/>
        </p:spPr>
        <p:txBody>
          <a:bodyPr wrap="square" rtlCol="0" anchor="ctr"/>
          <a:lstStyle/>
          <a:p>
            <a:pPr algn="ctr" indent="0" marL="0">
              <a:buNone/>
            </a:pPr>
            <a:r>
              <a:rPr lang="en-US" sz="1100" i="1" dirty="0">
                <a:solidFill>
                  <a:srgbClr val="E2E8F0"/>
                </a:solidFill>
                <a:latin typeface="Calibri" pitchFamily="34" charset="0"/>
                <a:ea typeface="Calibri" pitchFamily="34" charset="-122"/>
                <a:cs typeface="Calibri" pitchFamily="34" charset="-120"/>
              </a:rPr>
              <a:t>ESP32-S3 + I2S</a:t>
            </a:r>
            <a:endParaRPr lang="en-US" sz="1100" dirty="0"/>
          </a:p>
        </p:txBody>
      </p:sp>
      <p:sp>
        <p:nvSpPr>
          <p:cNvPr id="7" name="Shape 5"/>
          <p:cNvSpPr/>
          <p:nvPr/>
        </p:nvSpPr>
        <p:spPr>
          <a:xfrm>
            <a:off x="2057400" y="2788920"/>
            <a:ext cx="960120" cy="411480"/>
          </a:xfrm>
          <a:prstGeom prst="rightArrow">
            <a:avLst/>
          </a:prstGeom>
          <a:solidFill>
            <a:srgbClr val="334155"/>
          </a:solidFill>
          <a:ln w="12700">
            <a:solidFill>
              <a:srgbClr val="334155"/>
            </a:solidFill>
            <a:prstDash val="solid"/>
          </a:ln>
        </p:spPr>
      </p:sp>
      <p:sp>
        <p:nvSpPr>
          <p:cNvPr id="8" name="Shape 6"/>
          <p:cNvSpPr/>
          <p:nvPr/>
        </p:nvSpPr>
        <p:spPr>
          <a:xfrm>
            <a:off x="3063240" y="2194560"/>
            <a:ext cx="1463040" cy="1554480"/>
          </a:xfrm>
          <a:prstGeom prst="roundRect">
            <a:avLst>
              <a:gd name="adj" fmla="val 5000"/>
            </a:avLst>
          </a:prstGeom>
          <a:solidFill>
            <a:srgbClr val="3B82F6"/>
          </a:solidFill>
          <a:ln w="12700">
            <a:solidFill>
              <a:srgbClr val="3B82F6"/>
            </a:solidFill>
            <a:prstDash val="solid"/>
          </a:ln>
        </p:spPr>
      </p:sp>
      <p:sp>
        <p:nvSpPr>
          <p:cNvPr id="9" name="Text 7"/>
          <p:cNvSpPr/>
          <p:nvPr/>
        </p:nvSpPr>
        <p:spPr>
          <a:xfrm>
            <a:off x="3063240" y="2377440"/>
            <a:ext cx="1463040" cy="5486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Public MQTT broker</a:t>
            </a:r>
            <a:endParaRPr lang="en-US" sz="1300" dirty="0"/>
          </a:p>
        </p:txBody>
      </p:sp>
      <p:sp>
        <p:nvSpPr>
          <p:cNvPr id="10" name="Text 8"/>
          <p:cNvSpPr/>
          <p:nvPr/>
        </p:nvSpPr>
        <p:spPr>
          <a:xfrm>
            <a:off x="3063240" y="2971800"/>
            <a:ext cx="1463040" cy="457200"/>
          </a:xfrm>
          <a:prstGeom prst="rect">
            <a:avLst/>
          </a:prstGeom>
          <a:noFill/>
          <a:ln/>
        </p:spPr>
        <p:txBody>
          <a:bodyPr wrap="square" rtlCol="0" anchor="ctr"/>
          <a:lstStyle/>
          <a:p>
            <a:pPr algn="ctr" indent="0" marL="0">
              <a:buNone/>
            </a:pPr>
            <a:r>
              <a:rPr lang="en-US" sz="1100" i="1" dirty="0">
                <a:solidFill>
                  <a:srgbClr val="E2E8F0"/>
                </a:solidFill>
                <a:latin typeface="Calibri" pitchFamily="34" charset="0"/>
                <a:ea typeface="Calibri" pitchFamily="34" charset="-122"/>
                <a:cs typeface="Calibri" pitchFamily="34" charset="-120"/>
              </a:rPr>
              <a:t>broker.hivemq.com</a:t>
            </a:r>
            <a:endParaRPr lang="en-US" sz="1100" dirty="0"/>
          </a:p>
        </p:txBody>
      </p:sp>
      <p:sp>
        <p:nvSpPr>
          <p:cNvPr id="11" name="Shape 9"/>
          <p:cNvSpPr/>
          <p:nvPr/>
        </p:nvSpPr>
        <p:spPr>
          <a:xfrm>
            <a:off x="4572000" y="2788920"/>
            <a:ext cx="960120" cy="411480"/>
          </a:xfrm>
          <a:prstGeom prst="rightArrow">
            <a:avLst/>
          </a:prstGeom>
          <a:solidFill>
            <a:srgbClr val="334155"/>
          </a:solidFill>
          <a:ln w="12700">
            <a:solidFill>
              <a:srgbClr val="334155"/>
            </a:solidFill>
            <a:prstDash val="solid"/>
          </a:ln>
        </p:spPr>
      </p:sp>
      <p:sp>
        <p:nvSpPr>
          <p:cNvPr id="12" name="Shape 10"/>
          <p:cNvSpPr/>
          <p:nvPr/>
        </p:nvSpPr>
        <p:spPr>
          <a:xfrm>
            <a:off x="5577840" y="2194560"/>
            <a:ext cx="1463040" cy="1554480"/>
          </a:xfrm>
          <a:prstGeom prst="roundRect">
            <a:avLst>
              <a:gd name="adj" fmla="val 5000"/>
            </a:avLst>
          </a:prstGeom>
          <a:solidFill>
            <a:srgbClr val="3B82F6"/>
          </a:solidFill>
          <a:ln w="12700">
            <a:solidFill>
              <a:srgbClr val="3B82F6"/>
            </a:solidFill>
            <a:prstDash val="solid"/>
          </a:ln>
        </p:spPr>
      </p:sp>
      <p:sp>
        <p:nvSpPr>
          <p:cNvPr id="13" name="Text 11"/>
          <p:cNvSpPr/>
          <p:nvPr/>
        </p:nvSpPr>
        <p:spPr>
          <a:xfrm>
            <a:off x="5577840" y="2377440"/>
            <a:ext cx="1463040" cy="5486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Backend</a:t>
            </a:r>
            <a:endParaRPr lang="en-US" sz="1300" dirty="0"/>
          </a:p>
        </p:txBody>
      </p:sp>
      <p:sp>
        <p:nvSpPr>
          <p:cNvPr id="14" name="Text 12"/>
          <p:cNvSpPr/>
          <p:nvPr/>
        </p:nvSpPr>
        <p:spPr>
          <a:xfrm>
            <a:off x="5577840" y="2971800"/>
            <a:ext cx="1463040" cy="457200"/>
          </a:xfrm>
          <a:prstGeom prst="rect">
            <a:avLst/>
          </a:prstGeom>
          <a:noFill/>
          <a:ln/>
        </p:spPr>
        <p:txBody>
          <a:bodyPr wrap="square" rtlCol="0" anchor="ctr"/>
          <a:lstStyle/>
          <a:p>
            <a:pPr algn="ctr" indent="0" marL="0">
              <a:buNone/>
            </a:pPr>
            <a:r>
              <a:rPr lang="en-US" sz="1100" i="1" dirty="0">
                <a:solidFill>
                  <a:srgbClr val="E2E8F0"/>
                </a:solidFill>
                <a:latin typeface="Calibri" pitchFamily="34" charset="0"/>
                <a:ea typeface="Calibri" pitchFamily="34" charset="-122"/>
                <a:cs typeface="Calibri" pitchFamily="34" charset="-120"/>
              </a:rPr>
              <a:t>Node.js + SQLite</a:t>
            </a:r>
            <a:endParaRPr lang="en-US" sz="1100" dirty="0"/>
          </a:p>
        </p:txBody>
      </p:sp>
      <p:sp>
        <p:nvSpPr>
          <p:cNvPr id="15" name="Shape 13"/>
          <p:cNvSpPr/>
          <p:nvPr/>
        </p:nvSpPr>
        <p:spPr>
          <a:xfrm>
            <a:off x="7086600" y="2788920"/>
            <a:ext cx="960120" cy="411480"/>
          </a:xfrm>
          <a:prstGeom prst="rightArrow">
            <a:avLst/>
          </a:prstGeom>
          <a:solidFill>
            <a:srgbClr val="334155"/>
          </a:solidFill>
          <a:ln w="12700">
            <a:solidFill>
              <a:srgbClr val="334155"/>
            </a:solidFill>
            <a:prstDash val="solid"/>
          </a:ln>
        </p:spPr>
      </p:sp>
      <p:sp>
        <p:nvSpPr>
          <p:cNvPr id="16" name="Shape 14"/>
          <p:cNvSpPr/>
          <p:nvPr/>
        </p:nvSpPr>
        <p:spPr>
          <a:xfrm>
            <a:off x="8092440" y="2194560"/>
            <a:ext cx="1463040" cy="1554480"/>
          </a:xfrm>
          <a:prstGeom prst="roundRect">
            <a:avLst>
              <a:gd name="adj" fmla="val 5000"/>
            </a:avLst>
          </a:prstGeom>
          <a:solidFill>
            <a:srgbClr val="3B82F6"/>
          </a:solidFill>
          <a:ln w="12700">
            <a:solidFill>
              <a:srgbClr val="3B82F6"/>
            </a:solidFill>
            <a:prstDash val="solid"/>
          </a:ln>
        </p:spPr>
      </p:sp>
      <p:sp>
        <p:nvSpPr>
          <p:cNvPr id="17" name="Text 15"/>
          <p:cNvSpPr/>
          <p:nvPr/>
        </p:nvSpPr>
        <p:spPr>
          <a:xfrm>
            <a:off x="8092440" y="2377440"/>
            <a:ext cx="1463040" cy="5486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Web dashboard</a:t>
            </a:r>
            <a:endParaRPr lang="en-US" sz="1300" dirty="0"/>
          </a:p>
        </p:txBody>
      </p:sp>
      <p:sp>
        <p:nvSpPr>
          <p:cNvPr id="18" name="Text 16"/>
          <p:cNvSpPr/>
          <p:nvPr/>
        </p:nvSpPr>
        <p:spPr>
          <a:xfrm>
            <a:off x="8092440" y="2971800"/>
            <a:ext cx="1463040" cy="457200"/>
          </a:xfrm>
          <a:prstGeom prst="rect">
            <a:avLst/>
          </a:prstGeom>
          <a:noFill/>
          <a:ln/>
        </p:spPr>
        <p:txBody>
          <a:bodyPr wrap="square" rtlCol="0" anchor="ctr"/>
          <a:lstStyle/>
          <a:p>
            <a:pPr algn="ctr" indent="0" marL="0">
              <a:buNone/>
            </a:pPr>
            <a:r>
              <a:rPr lang="en-US" sz="1100" i="1" dirty="0">
                <a:solidFill>
                  <a:srgbClr val="E2E8F0"/>
                </a:solidFill>
                <a:latin typeface="Calibri" pitchFamily="34" charset="0"/>
                <a:ea typeface="Calibri" pitchFamily="34" charset="-122"/>
                <a:cs typeface="Calibri" pitchFamily="34" charset="-120"/>
              </a:rPr>
              <a:t>Next.js + WebSocket</a:t>
            </a:r>
            <a:endParaRPr lang="en-US" sz="1100" dirty="0"/>
          </a:p>
        </p:txBody>
      </p:sp>
      <p:sp>
        <p:nvSpPr>
          <p:cNvPr id="19" name="Shape 17"/>
          <p:cNvSpPr/>
          <p:nvPr/>
        </p:nvSpPr>
        <p:spPr>
          <a:xfrm>
            <a:off x="9601200" y="2788920"/>
            <a:ext cx="960120" cy="411480"/>
          </a:xfrm>
          <a:prstGeom prst="rightArrow">
            <a:avLst/>
          </a:prstGeom>
          <a:solidFill>
            <a:srgbClr val="334155"/>
          </a:solidFill>
          <a:ln w="12700">
            <a:solidFill>
              <a:srgbClr val="334155"/>
            </a:solidFill>
            <a:prstDash val="solid"/>
          </a:ln>
        </p:spPr>
      </p:sp>
      <p:sp>
        <p:nvSpPr>
          <p:cNvPr id="20" name="Shape 18"/>
          <p:cNvSpPr/>
          <p:nvPr/>
        </p:nvSpPr>
        <p:spPr>
          <a:xfrm>
            <a:off x="10607040" y="2194560"/>
            <a:ext cx="1463040" cy="1554480"/>
          </a:xfrm>
          <a:prstGeom prst="roundRect">
            <a:avLst>
              <a:gd name="adj" fmla="val 5000"/>
            </a:avLst>
          </a:prstGeom>
          <a:solidFill>
            <a:srgbClr val="F59E0B"/>
          </a:solidFill>
          <a:ln w="12700">
            <a:solidFill>
              <a:srgbClr val="F59E0B"/>
            </a:solidFill>
            <a:prstDash val="solid"/>
          </a:ln>
        </p:spPr>
      </p:sp>
      <p:sp>
        <p:nvSpPr>
          <p:cNvPr id="21" name="Text 19"/>
          <p:cNvSpPr/>
          <p:nvPr/>
        </p:nvSpPr>
        <p:spPr>
          <a:xfrm>
            <a:off x="10607040" y="2377440"/>
            <a:ext cx="1463040" cy="5486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Public HTTPS</a:t>
            </a:r>
            <a:endParaRPr lang="en-US" sz="1300" dirty="0"/>
          </a:p>
        </p:txBody>
      </p:sp>
      <p:sp>
        <p:nvSpPr>
          <p:cNvPr id="22" name="Text 20"/>
          <p:cNvSpPr/>
          <p:nvPr/>
        </p:nvSpPr>
        <p:spPr>
          <a:xfrm>
            <a:off x="10607040" y="2971800"/>
            <a:ext cx="1463040" cy="457200"/>
          </a:xfrm>
          <a:prstGeom prst="rect">
            <a:avLst/>
          </a:prstGeom>
          <a:noFill/>
          <a:ln/>
        </p:spPr>
        <p:txBody>
          <a:bodyPr wrap="square" rtlCol="0" anchor="ctr"/>
          <a:lstStyle/>
          <a:p>
            <a:pPr algn="ctr" indent="0" marL="0">
              <a:buNone/>
            </a:pPr>
            <a:r>
              <a:rPr lang="en-US" sz="1100" i="1" dirty="0">
                <a:solidFill>
                  <a:srgbClr val="E2E8F0"/>
                </a:solidFill>
                <a:latin typeface="Calibri" pitchFamily="34" charset="0"/>
                <a:ea typeface="Calibri" pitchFamily="34" charset="-122"/>
                <a:cs typeface="Calibri" pitchFamily="34" charset="-120"/>
              </a:rPr>
              <a:t>Cloudflare Tunnel</a:t>
            </a:r>
            <a:endParaRPr lang="en-US" sz="1100" dirty="0"/>
          </a:p>
        </p:txBody>
      </p:sp>
      <p:sp>
        <p:nvSpPr>
          <p:cNvPr id="23" name="Text 21"/>
          <p:cNvSpPr/>
          <p:nvPr/>
        </p:nvSpPr>
        <p:spPr>
          <a:xfrm>
            <a:off x="548640" y="4297680"/>
            <a:ext cx="10972800" cy="365760"/>
          </a:xfrm>
          <a:prstGeom prst="rect">
            <a:avLst/>
          </a:prstGeom>
          <a:noFill/>
          <a:ln/>
        </p:spPr>
        <p:txBody>
          <a:bodyPr wrap="square" rtlCol="0" anchor="ctr"/>
          <a:lstStyle/>
          <a:p>
            <a:pPr indent="0" marL="0">
              <a:buNone/>
            </a:pPr>
            <a:r>
              <a:rPr lang="en-US" sz="1600" b="1" dirty="0">
                <a:solidFill>
                  <a:srgbClr val="1E3A8A"/>
                </a:solidFill>
                <a:latin typeface="Calibri" pitchFamily="34" charset="0"/>
                <a:ea typeface="Calibri" pitchFamily="34" charset="-122"/>
                <a:cs typeface="Calibri" pitchFamily="34" charset="-120"/>
              </a:rPr>
              <a:t>Why this stack matters</a:t>
            </a:r>
            <a:endParaRPr lang="en-US" sz="1600" dirty="0"/>
          </a:p>
        </p:txBody>
      </p:sp>
      <p:sp>
        <p:nvSpPr>
          <p:cNvPr id="24" name="Text 22"/>
          <p:cNvSpPr/>
          <p:nvPr/>
        </p:nvSpPr>
        <p:spPr>
          <a:xfrm>
            <a:off x="548640" y="4663440"/>
            <a:ext cx="10972800" cy="1645920"/>
          </a:xfrm>
          <a:prstGeom prst="rect">
            <a:avLst/>
          </a:prstGeom>
          <a:noFill/>
          <a:ln/>
        </p:spPr>
        <p:txBody>
          <a:bodyPr wrap="square" rtlCol="0" anchor="t"/>
          <a:lstStyle/>
          <a:p>
            <a:pPr algn="just" indent="0" marL="0">
              <a:spcAft>
                <a:spcPts val="800"/>
              </a:spcAft>
              <a:buNone/>
            </a:pPr>
            <a:r>
              <a:rPr lang="en-US" sz="1400" dirty="0">
                <a:solidFill>
                  <a:srgbClr val="0F172A"/>
                </a:solidFill>
                <a:latin typeface="Calibri" pitchFamily="34" charset="0"/>
                <a:ea typeface="Calibri" pitchFamily="34" charset="-122"/>
                <a:cs typeface="Calibri" pitchFamily="34" charset="-120"/>
              </a:rPr>
              <a:t>Microphones reach the broker through ordinary outbound Wi-Fi, exactly as a student tablet would. Data never enters the school network as a server — there are no inbound ports, no firewall changes, no extra credentials to manage. The whole loop survives if a router restarts, and the public URL means a head teacher can open the live dashboard from their phone at home.</a:t>
            </a:r>
            <a:endParaRPr lang="en-US" sz="1400" dirty="0"/>
          </a:p>
        </p:txBody>
      </p:sp>
      <p:sp>
        <p:nvSpPr>
          <p:cNvPr id="25" name="Slide Number Placeholder 0"/>
          <p:cNvSpPr>
            <a:spLocks noGrp="1"/>
          </p:cNvSpPr>
          <p:nvPr>
            <p:ph type="sldNum" sz="quarter" idx="4294967295"/>
          </p:nvPr>
        </p:nvSpPr>
        <p:spPr>
          <a:xfrm>
            <a:off x="11704320"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334155"/>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indent="0" marL="0">
              <a:buNone/>
            </a:pPr>
            <a:r>
              <a:rPr lang="en-US" sz="3000" b="1" dirty="0">
                <a:solidFill>
                  <a:srgbClr val="1E3A8A"/>
                </a:solidFill>
                <a:latin typeface="Calibri" pitchFamily="34" charset="0"/>
                <a:ea typeface="Calibri" pitchFamily="34" charset="-122"/>
                <a:cs typeface="Calibri" pitchFamily="34" charset="-120"/>
              </a:rPr>
              <a:t>The hardware — small, cheap, classroom-friendly</a:t>
            </a:r>
            <a:endParaRPr lang="en-US" sz="3000" dirty="0"/>
          </a:p>
        </p:txBody>
      </p:sp>
      <p:sp>
        <p:nvSpPr>
          <p:cNvPr id="3" name="Text 1"/>
          <p:cNvSpPr/>
          <p:nvPr/>
        </p:nvSpPr>
        <p:spPr>
          <a:xfrm>
            <a:off x="548640" y="1051560"/>
            <a:ext cx="10972800" cy="365760"/>
          </a:xfrm>
          <a:prstGeom prst="rect">
            <a:avLst/>
          </a:prstGeom>
          <a:noFill/>
          <a:ln/>
        </p:spPr>
        <p:txBody>
          <a:bodyPr wrap="square" rtlCol="0" anchor="ctr"/>
          <a:lstStyle/>
          <a:p>
            <a:pPr indent="0" marL="0">
              <a:buNone/>
            </a:pPr>
            <a:r>
              <a:rPr lang="en-US" sz="1600" i="1" dirty="0">
                <a:solidFill>
                  <a:srgbClr val="334155"/>
                </a:solidFill>
                <a:latin typeface="Calibri" pitchFamily="34" charset="0"/>
                <a:ea typeface="Calibri" pitchFamily="34" charset="-122"/>
                <a:cs typeface="Calibri" pitchFamily="34" charset="-120"/>
              </a:rPr>
              <a:t>Each listening point is the size of a matchbox</a:t>
            </a:r>
            <a:endParaRPr lang="en-US" sz="1600" dirty="0"/>
          </a:p>
        </p:txBody>
      </p:sp>
      <p:sp>
        <p:nvSpPr>
          <p:cNvPr id="4" name="Shape 2"/>
          <p:cNvSpPr/>
          <p:nvPr/>
        </p:nvSpPr>
        <p:spPr>
          <a:xfrm>
            <a:off x="548640" y="1645920"/>
            <a:ext cx="6126480" cy="4572000"/>
          </a:xfrm>
          <a:prstGeom prst="roundRect">
            <a:avLst>
              <a:gd name="adj" fmla="val 1600"/>
            </a:avLst>
          </a:prstGeom>
          <a:solidFill>
            <a:srgbClr val="FFFFFF"/>
          </a:solidFill>
          <a:ln w="9525">
            <a:solidFill>
              <a:srgbClr val="CBD5E1"/>
            </a:solidFill>
            <a:prstDash val="solid"/>
          </a:ln>
          <a:effectLst>
            <a:outerShdw sx="100000" sy="100000" kx="0" ky="0" algn="bl" rotWithShape="0" blurRad="76200" dist="12700" dir="16200000">
              <a:srgbClr val="94A3B8">
                <a:alpha val="15000"/>
              </a:srgbClr>
            </a:outerShdw>
          </a:effectLst>
        </p:spPr>
      </p:sp>
      <p:sp>
        <p:nvSpPr>
          <p:cNvPr id="5" name="Text 3"/>
          <p:cNvSpPr/>
          <p:nvPr/>
        </p:nvSpPr>
        <p:spPr>
          <a:xfrm>
            <a:off x="822960" y="1828800"/>
            <a:ext cx="5577840" cy="457200"/>
          </a:xfrm>
          <a:prstGeom prst="rect">
            <a:avLst/>
          </a:prstGeom>
          <a:noFill/>
          <a:ln/>
        </p:spPr>
        <p:txBody>
          <a:bodyPr wrap="square" rtlCol="0" anchor="ctr"/>
          <a:lstStyle/>
          <a:p>
            <a:pPr indent="0" marL="0">
              <a:buNone/>
            </a:pPr>
            <a:r>
              <a:rPr lang="en-US" sz="2200" b="1" dirty="0">
                <a:solidFill>
                  <a:srgbClr val="1E3A8A"/>
                </a:solidFill>
                <a:latin typeface="Calibri" pitchFamily="34" charset="0"/>
                <a:ea typeface="Calibri" pitchFamily="34" charset="-122"/>
                <a:cs typeface="Calibri" pitchFamily="34" charset="-120"/>
              </a:rPr>
              <a:t>M5Stack ATOM Echo S3R</a:t>
            </a:r>
            <a:endParaRPr lang="en-US" sz="2200" dirty="0"/>
          </a:p>
        </p:txBody>
      </p:sp>
      <p:sp>
        <p:nvSpPr>
          <p:cNvPr id="6" name="Text 4"/>
          <p:cNvSpPr/>
          <p:nvPr/>
        </p:nvSpPr>
        <p:spPr>
          <a:xfrm>
            <a:off x="822960" y="2331720"/>
            <a:ext cx="5577840" cy="365760"/>
          </a:xfrm>
          <a:prstGeom prst="rect">
            <a:avLst/>
          </a:prstGeom>
          <a:noFill/>
          <a:ln/>
        </p:spPr>
        <p:txBody>
          <a:bodyPr wrap="square"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ESP32-S3 microcontroller, MEMS microphone over I2S, RGB LED</a:t>
            </a:r>
            <a:endParaRPr lang="en-US" sz="1300" dirty="0"/>
          </a:p>
        </p:txBody>
      </p:sp>
      <p:sp>
        <p:nvSpPr>
          <p:cNvPr id="7" name="Text 5"/>
          <p:cNvSpPr/>
          <p:nvPr/>
        </p:nvSpPr>
        <p:spPr>
          <a:xfrm>
            <a:off x="822960" y="2743200"/>
            <a:ext cx="5577840" cy="3291840"/>
          </a:xfrm>
          <a:prstGeom prst="rect">
            <a:avLst/>
          </a:prstGeom>
          <a:noFill/>
          <a:ln/>
        </p:spPr>
        <p:txBody>
          <a:bodyPr wrap="square" rtlCol="0" anchor="t"/>
          <a:lstStyle/>
          <a:p>
            <a:pPr algn="just" marL="342900" indent="-342900">
              <a:spcAft>
                <a:spcPts val="1000"/>
              </a:spcAft>
              <a:buSzPct val="100000"/>
              <a:buChar char="■"/>
            </a:pPr>
            <a:r>
              <a:rPr lang="en-US" sz="1300" dirty="0">
                <a:solidFill>
                  <a:srgbClr val="0F172A"/>
                </a:solidFill>
                <a:latin typeface="Calibri" pitchFamily="34" charset="0"/>
                <a:ea typeface="Calibri" pitchFamily="34" charset="-122"/>
                <a:cs typeface="Calibri" pitchFamily="34" charset="-120"/>
              </a:rPr>
              <a:t>Around 20 USD per listening point — six per classroom is still within reach of a teacher's pocket budget.</a:t>
            </a:r>
            <a:pPr algn="just" marL="342900" indent="-342900">
              <a:spcAft>
                <a:spcPts val="1000"/>
              </a:spcAft>
              <a:buSzPct val="100000"/>
              <a:buChar char="■"/>
            </a:pPr>
            <a:r>
              <a:rPr lang="en-US" sz="1300" dirty="0">
                <a:solidFill>
                  <a:srgbClr val="0F172A"/>
                </a:solidFill>
                <a:latin typeface="Calibri" pitchFamily="34" charset="0"/>
                <a:ea typeface="Calibri" pitchFamily="34" charset="-122"/>
                <a:cs typeface="Calibri" pitchFamily="34" charset="-120"/>
              </a:rPr>
              <a:t>USB-C powered through a step-down PCB; a single 24 V line feeds an entire room of mics from one ceiling box.</a:t>
            </a:r>
            <a:pPr algn="just" marL="342900" indent="-342900">
              <a:spcAft>
                <a:spcPts val="1000"/>
              </a:spcAft>
              <a:buSzPct val="100000"/>
              <a:buChar char="■"/>
            </a:pPr>
            <a:r>
              <a:rPr lang="en-US" sz="1300" dirty="0">
                <a:solidFill>
                  <a:srgbClr val="0F172A"/>
                </a:solidFill>
                <a:latin typeface="Calibri" pitchFamily="34" charset="0"/>
                <a:ea typeface="Calibri" pitchFamily="34" charset="-122"/>
                <a:cs typeface="Calibri" pitchFamily="34" charset="-120"/>
              </a:rPr>
              <a:t>Wi-Fi enabled and configured once via PlatformIO; afterwards each device just appears in the dashboard.</a:t>
            </a:r>
            <a:pPr algn="just" marL="342900" indent="-342900">
              <a:spcAft>
                <a:spcPts val="1000"/>
              </a:spcAft>
              <a:buSzPct val="100000"/>
              <a:buChar char="■"/>
            </a:pPr>
            <a:r>
              <a:rPr lang="en-US" sz="1300" dirty="0">
                <a:solidFill>
                  <a:srgbClr val="0F172A"/>
                </a:solidFill>
                <a:latin typeface="Calibri" pitchFamily="34" charset="0"/>
                <a:ea typeface="Calibri" pitchFamily="34" charset="-122"/>
                <a:cs typeface="Calibri" pitchFamily="34" charset="-120"/>
              </a:rPr>
              <a:t>Firmware applies median filtering and per-microphone calibration so the readings stay stable across units.</a:t>
            </a:r>
            <a:pPr algn="just" marL="342900" indent="-342900">
              <a:spcAft>
                <a:spcPts val="1000"/>
              </a:spcAft>
              <a:buSzPct val="100000"/>
              <a:buChar char="■"/>
            </a:pPr>
            <a:r>
              <a:rPr lang="en-US" sz="1300" dirty="0">
                <a:solidFill>
                  <a:srgbClr val="0F172A"/>
                </a:solidFill>
                <a:latin typeface="Calibri" pitchFamily="34" charset="0"/>
                <a:ea typeface="Calibri" pitchFamily="34" charset="-122"/>
                <a:cs typeface="Calibri" pitchFamily="34" charset="-120"/>
              </a:rPr>
              <a:t>All firmware code, board files and the dashboard live in one open source repository.</a:t>
            </a:r>
            <a:endParaRPr lang="en-US" sz="1300" dirty="0"/>
          </a:p>
        </p:txBody>
      </p:sp>
      <p:sp>
        <p:nvSpPr>
          <p:cNvPr id="8" name="Shape 6"/>
          <p:cNvSpPr/>
          <p:nvPr/>
        </p:nvSpPr>
        <p:spPr>
          <a:xfrm>
            <a:off x="6858000" y="1645920"/>
            <a:ext cx="4846320" cy="4572000"/>
          </a:xfrm>
          <a:prstGeom prst="roundRect">
            <a:avLst>
              <a:gd name="adj" fmla="val 1600"/>
            </a:avLst>
          </a:prstGeom>
          <a:solidFill>
            <a:srgbClr val="FFFFFF"/>
          </a:solidFill>
          <a:ln w="9525">
            <a:solidFill>
              <a:srgbClr val="CBD5E1"/>
            </a:solidFill>
            <a:prstDash val="solid"/>
          </a:ln>
          <a:effectLst>
            <a:outerShdw sx="100000" sy="100000" kx="0" ky="0" algn="bl" rotWithShape="0" blurRad="76200" dist="12700" dir="16200000">
              <a:srgbClr val="94A3B8">
                <a:alpha val="15000"/>
              </a:srgbClr>
            </a:outerShdw>
          </a:effectLst>
        </p:spPr>
      </p:sp>
      <p:pic>
        <p:nvPicPr>
          <p:cNvPr id="9" name="Image 0" descr="C:\Users\Departamento\Desktop\SoundMetrics\microfonoAula\docs\fotos\IMG_20260511_175247_174.jpg">    </p:cNvPr>
          <p:cNvPicPr>
            <a:picLocks noChangeAspect="1"/>
          </p:cNvPicPr>
          <p:nvPr/>
        </p:nvPicPr>
        <p:blipFill>
          <a:blip r:embed="rId1"/>
          <a:srcRect l="0" r="0" t="0" b="0"/>
          <a:stretch/>
        </p:blipFill>
        <p:spPr>
          <a:xfrm>
            <a:off x="6949440" y="1737360"/>
            <a:ext cx="4663440" cy="4023360"/>
          </a:xfrm>
          <a:prstGeom prst="rect">
            <a:avLst/>
          </a:prstGeom>
        </p:spPr>
      </p:pic>
      <p:sp>
        <p:nvSpPr>
          <p:cNvPr id="10" name="Text 7"/>
          <p:cNvSpPr/>
          <p:nvPr/>
        </p:nvSpPr>
        <p:spPr>
          <a:xfrm>
            <a:off x="6995160" y="5715000"/>
            <a:ext cx="4572000" cy="365760"/>
          </a:xfrm>
          <a:prstGeom prst="rect">
            <a:avLst/>
          </a:prstGeom>
          <a:noFill/>
          <a:ln/>
        </p:spPr>
        <p:txBody>
          <a:bodyPr wrap="square" rtlCol="0" anchor="ctr"/>
          <a:lstStyle/>
          <a:p>
            <a:pPr algn="ctr" indent="0" marL="0">
              <a:buNone/>
            </a:pPr>
            <a:r>
              <a:rPr lang="en-US" sz="1100" i="1" dirty="0">
                <a:solidFill>
                  <a:srgbClr val="334155"/>
                </a:solidFill>
                <a:latin typeface="Calibri" pitchFamily="34" charset="0"/>
                <a:ea typeface="Calibri" pitchFamily="34" charset="-122"/>
                <a:cs typeface="Calibri" pitchFamily="34" charset="-120"/>
              </a:rPr>
              <a:t>A single ATOM Echo node with its USB-C pigtail.</a:t>
            </a:r>
            <a:endParaRPr lang="en-US" sz="1100" dirty="0"/>
          </a:p>
        </p:txBody>
      </p:sp>
      <p:sp>
        <p:nvSpPr>
          <p:cNvPr id="25" name="Slide Number Placeholder 0"/>
          <p:cNvSpPr>
            <a:spLocks noGrp="1"/>
          </p:cNvSpPr>
          <p:nvPr>
            <p:ph type="sldNum" sz="quarter" idx="4294967295"/>
          </p:nvPr>
        </p:nvSpPr>
        <p:spPr>
          <a:xfrm>
            <a:off x="11704320"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334155"/>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indent="0" marL="0">
              <a:buNone/>
            </a:pPr>
            <a:r>
              <a:rPr lang="en-US" sz="3000" b="1" dirty="0">
                <a:solidFill>
                  <a:srgbClr val="1E3A8A"/>
                </a:solidFill>
                <a:latin typeface="Calibri" pitchFamily="34" charset="0"/>
                <a:ea typeface="Calibri" pitchFamily="34" charset="-122"/>
                <a:cs typeface="Calibri" pitchFamily="34" charset="-120"/>
              </a:rPr>
              <a:t>Building the network of listening points</a:t>
            </a:r>
            <a:endParaRPr lang="en-US" sz="3000" dirty="0"/>
          </a:p>
        </p:txBody>
      </p:sp>
      <p:sp>
        <p:nvSpPr>
          <p:cNvPr id="3" name="Text 1"/>
          <p:cNvSpPr/>
          <p:nvPr/>
        </p:nvSpPr>
        <p:spPr>
          <a:xfrm>
            <a:off x="548640" y="1051560"/>
            <a:ext cx="10972800" cy="365760"/>
          </a:xfrm>
          <a:prstGeom prst="rect">
            <a:avLst/>
          </a:prstGeom>
          <a:noFill/>
          <a:ln/>
        </p:spPr>
        <p:txBody>
          <a:bodyPr wrap="square" rtlCol="0" anchor="ctr"/>
          <a:lstStyle/>
          <a:p>
            <a:pPr indent="0" marL="0">
              <a:buNone/>
            </a:pPr>
            <a:r>
              <a:rPr lang="en-US" sz="1600" i="1" dirty="0">
                <a:solidFill>
                  <a:srgbClr val="334155"/>
                </a:solidFill>
                <a:latin typeface="Calibri" pitchFamily="34" charset="0"/>
                <a:ea typeface="Calibri" pitchFamily="34" charset="-122"/>
                <a:cs typeface="Calibri" pitchFamily="34" charset="-120"/>
              </a:rPr>
              <a:t>Custom step-down PCB, single 24 V bus, mounted on the classroom ceiling</a:t>
            </a:r>
            <a:endParaRPr lang="en-US" sz="1600" dirty="0"/>
          </a:p>
        </p:txBody>
      </p:sp>
      <p:sp>
        <p:nvSpPr>
          <p:cNvPr id="4" name="Shape 2"/>
          <p:cNvSpPr/>
          <p:nvPr/>
        </p:nvSpPr>
        <p:spPr>
          <a:xfrm>
            <a:off x="548640" y="1645920"/>
            <a:ext cx="4846320" cy="4663440"/>
          </a:xfrm>
          <a:prstGeom prst="roundRect">
            <a:avLst>
              <a:gd name="adj" fmla="val 1569"/>
            </a:avLst>
          </a:prstGeom>
          <a:solidFill>
            <a:srgbClr val="FFFFFF"/>
          </a:solidFill>
          <a:ln w="9525">
            <a:solidFill>
              <a:srgbClr val="CBD5E1"/>
            </a:solidFill>
            <a:prstDash val="solid"/>
          </a:ln>
          <a:effectLst>
            <a:outerShdw sx="100000" sy="100000" kx="0" ky="0" algn="bl" rotWithShape="0" blurRad="76200" dist="12700" dir="16200000">
              <a:srgbClr val="94A3B8">
                <a:alpha val="15000"/>
              </a:srgbClr>
            </a:outerShdw>
          </a:effectLst>
        </p:spPr>
      </p:sp>
      <p:pic>
        <p:nvPicPr>
          <p:cNvPr id="5" name="Image 0" descr="C:\Users\Departamento\Desktop\SoundMetrics\microfonoAula\docs\fotos\IMG_20260511_175247_136.jpg">    </p:cNvPr>
          <p:cNvPicPr>
            <a:picLocks noChangeAspect="1"/>
          </p:cNvPicPr>
          <p:nvPr/>
        </p:nvPicPr>
        <p:blipFill>
          <a:blip r:embed="rId1"/>
          <a:srcRect l="0" r="0" t="0" b="0"/>
          <a:stretch/>
        </p:blipFill>
        <p:spPr>
          <a:xfrm>
            <a:off x="640080" y="1737360"/>
            <a:ext cx="4663440" cy="4114800"/>
          </a:xfrm>
          <a:prstGeom prst="rect">
            <a:avLst/>
          </a:prstGeom>
        </p:spPr>
      </p:pic>
      <p:sp>
        <p:nvSpPr>
          <p:cNvPr id="6" name="Text 3"/>
          <p:cNvSpPr/>
          <p:nvPr/>
        </p:nvSpPr>
        <p:spPr>
          <a:xfrm>
            <a:off x="685800" y="5806440"/>
            <a:ext cx="4572000" cy="365760"/>
          </a:xfrm>
          <a:prstGeom prst="rect">
            <a:avLst/>
          </a:prstGeom>
          <a:noFill/>
          <a:ln/>
        </p:spPr>
        <p:txBody>
          <a:bodyPr wrap="square" rtlCol="0" anchor="ctr"/>
          <a:lstStyle/>
          <a:p>
            <a:pPr algn="ctr" indent="0" marL="0">
              <a:buNone/>
            </a:pPr>
            <a:r>
              <a:rPr lang="en-US" sz="1100" i="1" dirty="0">
                <a:solidFill>
                  <a:srgbClr val="334155"/>
                </a:solidFill>
                <a:latin typeface="Calibri" pitchFamily="34" charset="0"/>
                <a:ea typeface="Calibri" pitchFamily="34" charset="-122"/>
                <a:cs typeface="Calibri" pitchFamily="34" charset="-120"/>
              </a:rPr>
              <a:t>Five complete listening nodes ready to install — PCB + ATOM Echo + USB-C pigtail.</a:t>
            </a:r>
            <a:endParaRPr lang="en-US" sz="1100" dirty="0"/>
          </a:p>
        </p:txBody>
      </p:sp>
      <p:sp>
        <p:nvSpPr>
          <p:cNvPr id="7" name="Shape 4"/>
          <p:cNvSpPr/>
          <p:nvPr/>
        </p:nvSpPr>
        <p:spPr>
          <a:xfrm>
            <a:off x="5577840" y="1645920"/>
            <a:ext cx="2926080" cy="4663440"/>
          </a:xfrm>
          <a:prstGeom prst="roundRect">
            <a:avLst>
              <a:gd name="adj" fmla="val 2500"/>
            </a:avLst>
          </a:prstGeom>
          <a:solidFill>
            <a:srgbClr val="FFFFFF"/>
          </a:solidFill>
          <a:ln w="9525">
            <a:solidFill>
              <a:srgbClr val="CBD5E1"/>
            </a:solidFill>
            <a:prstDash val="solid"/>
          </a:ln>
          <a:effectLst>
            <a:outerShdw sx="100000" sy="100000" kx="0" ky="0" algn="bl" rotWithShape="0" blurRad="76200" dist="12700" dir="16200000">
              <a:srgbClr val="94A3B8">
                <a:alpha val="15000"/>
              </a:srgbClr>
            </a:outerShdw>
          </a:effectLst>
        </p:spPr>
      </p:sp>
      <p:pic>
        <p:nvPicPr>
          <p:cNvPr id="8" name="Image 1" descr="C:\Users\Departamento\Desktop\SoundMetrics\microfonoAula\docs\fotos\IMG_20260511_175247_163.jpg">    </p:cNvPr>
          <p:cNvPicPr>
            <a:picLocks noChangeAspect="1"/>
          </p:cNvPicPr>
          <p:nvPr/>
        </p:nvPicPr>
        <p:blipFill>
          <a:blip r:embed="rId2"/>
          <a:srcRect l="0" r="0" t="0" b="0"/>
          <a:stretch/>
        </p:blipFill>
        <p:spPr>
          <a:xfrm>
            <a:off x="5669280" y="1737360"/>
            <a:ext cx="2743200" cy="4114800"/>
          </a:xfrm>
          <a:prstGeom prst="rect">
            <a:avLst/>
          </a:prstGeom>
        </p:spPr>
      </p:pic>
      <p:sp>
        <p:nvSpPr>
          <p:cNvPr id="9" name="Text 5"/>
          <p:cNvSpPr/>
          <p:nvPr/>
        </p:nvSpPr>
        <p:spPr>
          <a:xfrm>
            <a:off x="5715000" y="5806440"/>
            <a:ext cx="2651760" cy="365760"/>
          </a:xfrm>
          <a:prstGeom prst="rect">
            <a:avLst/>
          </a:prstGeom>
          <a:noFill/>
          <a:ln/>
        </p:spPr>
        <p:txBody>
          <a:bodyPr wrap="square" rtlCol="0" anchor="ctr"/>
          <a:lstStyle/>
          <a:p>
            <a:pPr algn="ctr" indent="0" marL="0">
              <a:buNone/>
            </a:pPr>
            <a:r>
              <a:rPr lang="en-US" sz="1100" i="1" dirty="0">
                <a:solidFill>
                  <a:srgbClr val="334155"/>
                </a:solidFill>
                <a:latin typeface="Calibri" pitchFamily="34" charset="0"/>
                <a:ea typeface="Calibri" pitchFamily="34" charset="-122"/>
                <a:cs typeface="Calibri" pitchFamily="34" charset="-120"/>
              </a:rPr>
              <a:t>One node mounted on the classroom ceiling, fed by the 24 V bus.</a:t>
            </a:r>
            <a:endParaRPr lang="en-US" sz="1100" dirty="0"/>
          </a:p>
        </p:txBody>
      </p:sp>
      <p:sp>
        <p:nvSpPr>
          <p:cNvPr id="10" name="Shape 6"/>
          <p:cNvSpPr/>
          <p:nvPr/>
        </p:nvSpPr>
        <p:spPr>
          <a:xfrm>
            <a:off x="8641080" y="1645920"/>
            <a:ext cx="3063240" cy="4663440"/>
          </a:xfrm>
          <a:prstGeom prst="roundRect">
            <a:avLst>
              <a:gd name="adj" fmla="val 2388"/>
            </a:avLst>
          </a:prstGeom>
          <a:solidFill>
            <a:srgbClr val="FFFFFF"/>
          </a:solidFill>
          <a:ln w="9525">
            <a:solidFill>
              <a:srgbClr val="CBD5E1"/>
            </a:solidFill>
            <a:prstDash val="solid"/>
          </a:ln>
          <a:effectLst>
            <a:outerShdw sx="100000" sy="100000" kx="0" ky="0" algn="bl" rotWithShape="0" blurRad="76200" dist="12700" dir="16200000">
              <a:srgbClr val="94A3B8">
                <a:alpha val="15000"/>
              </a:srgbClr>
            </a:outerShdw>
          </a:effectLst>
        </p:spPr>
      </p:sp>
      <p:sp>
        <p:nvSpPr>
          <p:cNvPr id="11" name="Text 7"/>
          <p:cNvSpPr/>
          <p:nvPr/>
        </p:nvSpPr>
        <p:spPr>
          <a:xfrm>
            <a:off x="8823960" y="1828800"/>
            <a:ext cx="2788920" cy="457200"/>
          </a:xfrm>
          <a:prstGeom prst="rect">
            <a:avLst/>
          </a:prstGeom>
          <a:noFill/>
          <a:ln/>
        </p:spPr>
        <p:txBody>
          <a:bodyPr wrap="square" rtlCol="0" anchor="ctr"/>
          <a:lstStyle/>
          <a:p>
            <a:pPr indent="0" marL="0">
              <a:buNone/>
            </a:pPr>
            <a:r>
              <a:rPr lang="en-US" sz="1600" b="1" dirty="0">
                <a:solidFill>
                  <a:srgbClr val="1E3A8A"/>
                </a:solidFill>
                <a:latin typeface="Calibri" pitchFamily="34" charset="0"/>
                <a:ea typeface="Calibri" pitchFamily="34" charset="-122"/>
                <a:cs typeface="Calibri" pitchFamily="34" charset="-120"/>
              </a:rPr>
              <a:t>Engineering decisions</a:t>
            </a:r>
            <a:endParaRPr lang="en-US" sz="1600" dirty="0"/>
          </a:p>
        </p:txBody>
      </p:sp>
      <p:sp>
        <p:nvSpPr>
          <p:cNvPr id="12" name="Text 8"/>
          <p:cNvSpPr/>
          <p:nvPr/>
        </p:nvSpPr>
        <p:spPr>
          <a:xfrm>
            <a:off x="8823960" y="2331720"/>
            <a:ext cx="2788920" cy="3840480"/>
          </a:xfrm>
          <a:prstGeom prst="rect">
            <a:avLst/>
          </a:prstGeom>
          <a:noFill/>
          <a:ln/>
        </p:spPr>
        <p:txBody>
          <a:bodyPr wrap="square" rtlCol="0" anchor="t"/>
          <a:lstStyle/>
          <a:p>
            <a:pPr algn="just" marL="342900" indent="-342900">
              <a:spcAft>
                <a:spcPts val="1000"/>
              </a:spcAft>
              <a:buSzPct val="100000"/>
              <a:buChar char="■"/>
            </a:pPr>
            <a:r>
              <a:rPr lang="en-US" sz="1100" dirty="0">
                <a:solidFill>
                  <a:srgbClr val="0F172A"/>
                </a:solidFill>
                <a:latin typeface="Calibri" pitchFamily="34" charset="0"/>
                <a:ea typeface="Calibri" pitchFamily="34" charset="-122"/>
                <a:cs typeface="Calibri" pitchFamily="34" charset="-120"/>
              </a:rPr>
              <a:t>Single 24 V power bus down the ceiling line.</a:t>
            </a:r>
            <a:pPr algn="just" marL="342900" indent="-342900">
              <a:spcAft>
                <a:spcPts val="1000"/>
              </a:spcAft>
              <a:buSzPct val="100000"/>
              <a:buChar char="■"/>
            </a:pPr>
            <a:r>
              <a:rPr lang="en-US" sz="1100" dirty="0">
                <a:solidFill>
                  <a:srgbClr val="0F172A"/>
                </a:solidFill>
                <a:latin typeface="Calibri" pitchFamily="34" charset="0"/>
                <a:ea typeface="Calibri" pitchFamily="34" charset="-122"/>
                <a:cs typeface="Calibri" pitchFamily="34" charset="-120"/>
              </a:rPr>
              <a:t>Local TSR 1-2450 step-down per node, fused.</a:t>
            </a:r>
            <a:pPr algn="just" marL="342900" indent="-342900">
              <a:spcAft>
                <a:spcPts val="1000"/>
              </a:spcAft>
              <a:buSzPct val="100000"/>
              <a:buChar char="■"/>
            </a:pPr>
            <a:r>
              <a:rPr lang="en-US" sz="1100" dirty="0">
                <a:solidFill>
                  <a:srgbClr val="0F172A"/>
                </a:solidFill>
                <a:latin typeface="Calibri" pitchFamily="34" charset="0"/>
                <a:ea typeface="Calibri" pitchFamily="34" charset="-122"/>
                <a:cs typeface="Calibri" pitchFamily="34" charset="-120"/>
              </a:rPr>
              <a:t>WAGO splices, no soldering needed in the room.</a:t>
            </a:r>
            <a:pPr algn="just" marL="342900" indent="-342900">
              <a:spcAft>
                <a:spcPts val="1000"/>
              </a:spcAft>
              <a:buSzPct val="100000"/>
              <a:buChar char="■"/>
            </a:pPr>
            <a:r>
              <a:rPr lang="en-US" sz="1100" dirty="0">
                <a:solidFill>
                  <a:srgbClr val="0F172A"/>
                </a:solidFill>
                <a:latin typeface="Calibri" pitchFamily="34" charset="0"/>
                <a:ea typeface="Calibri" pitchFamily="34" charset="-122"/>
                <a:cs typeface="Calibri" pitchFamily="34" charset="-120"/>
              </a:rPr>
              <a:t>Replaceable USB-C pigtail to each ATOM.</a:t>
            </a:r>
            <a:pPr algn="just" marL="342900" indent="-342900">
              <a:spcAft>
                <a:spcPts val="1000"/>
              </a:spcAft>
              <a:buSzPct val="100000"/>
              <a:buChar char="■"/>
            </a:pPr>
            <a:r>
              <a:rPr lang="en-US" sz="1100" dirty="0">
                <a:solidFill>
                  <a:srgbClr val="0F172A"/>
                </a:solidFill>
                <a:latin typeface="Calibri" pitchFamily="34" charset="0"/>
                <a:ea typeface="Calibri" pitchFamily="34" charset="-122"/>
                <a:cs typeface="Calibri" pitchFamily="34" charset="-120"/>
              </a:rPr>
              <a:t>Everything documented as repeatable schematics.</a:t>
            </a:r>
            <a:endParaRPr lang="en-US" sz="1100" dirty="0"/>
          </a:p>
        </p:txBody>
      </p:sp>
      <p:sp>
        <p:nvSpPr>
          <p:cNvPr id="25" name="Slide Number Placeholder 0"/>
          <p:cNvSpPr>
            <a:spLocks noGrp="1"/>
          </p:cNvSpPr>
          <p:nvPr>
            <p:ph type="sldNum" sz="quarter" idx="4294967295"/>
          </p:nvPr>
        </p:nvSpPr>
        <p:spPr>
          <a:xfrm>
            <a:off x="11704320"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334155"/>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indent="0" marL="0">
              <a:buNone/>
            </a:pPr>
            <a:r>
              <a:rPr lang="en-US" sz="3000" b="1" dirty="0">
                <a:solidFill>
                  <a:srgbClr val="1E3A8A"/>
                </a:solidFill>
                <a:latin typeface="Calibri" pitchFamily="34" charset="0"/>
                <a:ea typeface="Calibri" pitchFamily="34" charset="-122"/>
                <a:cs typeface="Calibri" pitchFamily="34" charset="-120"/>
              </a:rPr>
              <a:t>From wall socket to ceiling microphone</a:t>
            </a:r>
            <a:endParaRPr lang="en-US" sz="3000" dirty="0"/>
          </a:p>
        </p:txBody>
      </p:sp>
      <p:sp>
        <p:nvSpPr>
          <p:cNvPr id="3" name="Text 1"/>
          <p:cNvSpPr/>
          <p:nvPr/>
        </p:nvSpPr>
        <p:spPr>
          <a:xfrm>
            <a:off x="548640" y="1051560"/>
            <a:ext cx="10972800" cy="365760"/>
          </a:xfrm>
          <a:prstGeom prst="rect">
            <a:avLst/>
          </a:prstGeom>
          <a:noFill/>
          <a:ln/>
        </p:spPr>
        <p:txBody>
          <a:bodyPr wrap="square" rtlCol="0" anchor="ctr"/>
          <a:lstStyle/>
          <a:p>
            <a:pPr indent="0" marL="0">
              <a:buNone/>
            </a:pPr>
            <a:r>
              <a:rPr lang="en-US" sz="1600" i="1" dirty="0">
                <a:solidFill>
                  <a:srgbClr val="334155"/>
                </a:solidFill>
                <a:latin typeface="Calibri" pitchFamily="34" charset="0"/>
                <a:ea typeface="Calibri" pitchFamily="34" charset="-122"/>
                <a:cs typeface="Calibri" pitchFamily="34" charset="-120"/>
              </a:rPr>
              <a:t>A repeatable wiring scheme keeps every classroom identical</a:t>
            </a:r>
            <a:endParaRPr lang="en-US" sz="1600" dirty="0"/>
          </a:p>
        </p:txBody>
      </p:sp>
      <p:sp>
        <p:nvSpPr>
          <p:cNvPr id="4" name="Shape 2"/>
          <p:cNvSpPr/>
          <p:nvPr/>
        </p:nvSpPr>
        <p:spPr>
          <a:xfrm>
            <a:off x="548640" y="1645920"/>
            <a:ext cx="7315200" cy="4663440"/>
          </a:xfrm>
          <a:prstGeom prst="roundRect">
            <a:avLst>
              <a:gd name="adj" fmla="val 1569"/>
            </a:avLst>
          </a:prstGeom>
          <a:solidFill>
            <a:srgbClr val="FFFFFF"/>
          </a:solidFill>
          <a:ln w="9525">
            <a:solidFill>
              <a:srgbClr val="CBD5E1"/>
            </a:solidFill>
            <a:prstDash val="solid"/>
          </a:ln>
          <a:effectLst>
            <a:outerShdw sx="100000" sy="100000" kx="0" ky="0" algn="bl" rotWithShape="0" blurRad="76200" dist="12700" dir="16200000">
              <a:srgbClr val="94A3B8">
                <a:alpha val="15000"/>
              </a:srgbClr>
            </a:outerShdw>
          </a:effectLst>
        </p:spPr>
      </p:sp>
      <p:pic>
        <p:nvPicPr>
          <p:cNvPr id="5" name="Image 0" descr="C:\Users\Departamento\Desktop\SoundMetrics\microfonoAula\docs\fotos\IMG_20260511_175247_119.jpg">    </p:cNvPr>
          <p:cNvPicPr>
            <a:picLocks noChangeAspect="1"/>
          </p:cNvPicPr>
          <p:nvPr/>
        </p:nvPicPr>
        <p:blipFill>
          <a:blip r:embed="rId1"/>
          <a:srcRect l="0" r="0" t="0" b="0"/>
          <a:stretch/>
        </p:blipFill>
        <p:spPr>
          <a:xfrm>
            <a:off x="640080" y="1737360"/>
            <a:ext cx="7132320" cy="4114800"/>
          </a:xfrm>
          <a:prstGeom prst="rect">
            <a:avLst/>
          </a:prstGeom>
        </p:spPr>
      </p:pic>
      <p:sp>
        <p:nvSpPr>
          <p:cNvPr id="6" name="Text 3"/>
          <p:cNvSpPr/>
          <p:nvPr/>
        </p:nvSpPr>
        <p:spPr>
          <a:xfrm>
            <a:off x="685800" y="5806440"/>
            <a:ext cx="7040880" cy="365760"/>
          </a:xfrm>
          <a:prstGeom prst="rect">
            <a:avLst/>
          </a:prstGeom>
          <a:noFill/>
          <a:ln/>
        </p:spPr>
        <p:txBody>
          <a:bodyPr wrap="square" rtlCol="0" anchor="ctr"/>
          <a:lstStyle/>
          <a:p>
            <a:pPr algn="ctr" indent="0" marL="0">
              <a:buNone/>
            </a:pPr>
            <a:r>
              <a:rPr lang="en-US" sz="1100" i="1" dirty="0">
                <a:solidFill>
                  <a:srgbClr val="334155"/>
                </a:solidFill>
                <a:latin typeface="Calibri" pitchFamily="34" charset="0"/>
                <a:ea typeface="Calibri" pitchFamily="34" charset="-122"/>
                <a:cs typeface="Calibri" pitchFamily="34" charset="-120"/>
              </a:rPr>
              <a:t>Power distribution: 230 V → 24 V supply → ceiling junction boxes → step-down PCBs → microphones.</a:t>
            </a:r>
            <a:endParaRPr lang="en-US" sz="1100" dirty="0"/>
          </a:p>
        </p:txBody>
      </p:sp>
      <p:sp>
        <p:nvSpPr>
          <p:cNvPr id="7" name="Shape 4"/>
          <p:cNvSpPr/>
          <p:nvPr/>
        </p:nvSpPr>
        <p:spPr>
          <a:xfrm>
            <a:off x="8046720" y="1645920"/>
            <a:ext cx="3657600" cy="4663440"/>
          </a:xfrm>
          <a:prstGeom prst="roundRect">
            <a:avLst>
              <a:gd name="adj" fmla="val 2000"/>
            </a:avLst>
          </a:prstGeom>
          <a:solidFill>
            <a:srgbClr val="FFFFFF"/>
          </a:solidFill>
          <a:ln w="9525">
            <a:solidFill>
              <a:srgbClr val="CBD5E1"/>
            </a:solidFill>
            <a:prstDash val="solid"/>
          </a:ln>
          <a:effectLst>
            <a:outerShdw sx="100000" sy="100000" kx="0" ky="0" algn="bl" rotWithShape="0" blurRad="76200" dist="12700" dir="16200000">
              <a:srgbClr val="94A3B8">
                <a:alpha val="15000"/>
              </a:srgbClr>
            </a:outerShdw>
          </a:effectLst>
        </p:spPr>
      </p:sp>
      <p:sp>
        <p:nvSpPr>
          <p:cNvPr id="8" name="Text 5"/>
          <p:cNvSpPr/>
          <p:nvPr/>
        </p:nvSpPr>
        <p:spPr>
          <a:xfrm>
            <a:off x="8229600" y="1828800"/>
            <a:ext cx="3291840" cy="457200"/>
          </a:xfrm>
          <a:prstGeom prst="rect">
            <a:avLst/>
          </a:prstGeom>
          <a:noFill/>
          <a:ln/>
        </p:spPr>
        <p:txBody>
          <a:bodyPr wrap="square" rtlCol="0" anchor="ctr"/>
          <a:lstStyle/>
          <a:p>
            <a:pPr indent="0" marL="0">
              <a:buNone/>
            </a:pPr>
            <a:r>
              <a:rPr lang="en-US" sz="1800" b="1" dirty="0">
                <a:solidFill>
                  <a:srgbClr val="1E3A8A"/>
                </a:solidFill>
                <a:latin typeface="Calibri" pitchFamily="34" charset="0"/>
                <a:ea typeface="Calibri" pitchFamily="34" charset="-122"/>
                <a:cs typeface="Calibri" pitchFamily="34" charset="-120"/>
              </a:rPr>
              <a:t>Why this scheme</a:t>
            </a:r>
            <a:endParaRPr lang="en-US" sz="1800" dirty="0"/>
          </a:p>
        </p:txBody>
      </p:sp>
      <p:sp>
        <p:nvSpPr>
          <p:cNvPr id="9" name="Text 6"/>
          <p:cNvSpPr/>
          <p:nvPr/>
        </p:nvSpPr>
        <p:spPr>
          <a:xfrm>
            <a:off x="8229600" y="2331720"/>
            <a:ext cx="3291840" cy="4023360"/>
          </a:xfrm>
          <a:prstGeom prst="rect">
            <a:avLst/>
          </a:prstGeom>
          <a:noFill/>
          <a:ln/>
        </p:spPr>
        <p:txBody>
          <a:bodyPr wrap="square" rtlCol="0" anchor="t"/>
          <a:lstStyle/>
          <a:p>
            <a:pPr algn="just" indent="0" marL="0">
              <a:spcAft>
                <a:spcPts val="800"/>
              </a:spcAft>
              <a:buNone/>
            </a:pPr>
            <a:r>
              <a:rPr lang="en-US" sz="1200" dirty="0">
                <a:solidFill>
                  <a:srgbClr val="0F172A"/>
                </a:solidFill>
                <a:latin typeface="Calibri" pitchFamily="34" charset="0"/>
                <a:ea typeface="Calibri" pitchFamily="34" charset="-122"/>
                <a:cs typeface="Calibri" pitchFamily="34" charset="-120"/>
              </a:rPr>
              <a:t>A single low-voltage 24 V line is daisy-chained from one ceiling box to the next. Every classroom uses the same junction-box layout, so an electrician familiar with one room can wire any other room in the school without reading new documentation.</a:t>
            </a:r>
            <a:endParaRPr lang="en-US" sz="1200" dirty="0"/>
          </a:p>
        </p:txBody>
      </p:sp>
      <p:sp>
        <p:nvSpPr>
          <p:cNvPr id="25" name="Slide Number Placeholder 0"/>
          <p:cNvSpPr>
            <a:spLocks noGrp="1"/>
          </p:cNvSpPr>
          <p:nvPr>
            <p:ph type="sldNum" sz="quarter" idx="4294967295"/>
          </p:nvPr>
        </p:nvSpPr>
        <p:spPr>
          <a:xfrm>
            <a:off x="11704320"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334155"/>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indent="0" marL="0">
              <a:buNone/>
            </a:pPr>
            <a:r>
              <a:rPr lang="en-US" sz="3000" b="1" dirty="0">
                <a:solidFill>
                  <a:srgbClr val="1E3A8A"/>
                </a:solidFill>
                <a:latin typeface="Calibri" pitchFamily="34" charset="0"/>
                <a:ea typeface="Calibri" pitchFamily="34" charset="-122"/>
                <a:cs typeface="Calibri" pitchFamily="34" charset="-120"/>
              </a:rPr>
              <a:t>Real-time feedback students can read at a glance</a:t>
            </a:r>
            <a:endParaRPr lang="en-US" sz="3000" dirty="0"/>
          </a:p>
        </p:txBody>
      </p:sp>
      <p:sp>
        <p:nvSpPr>
          <p:cNvPr id="3" name="Text 1"/>
          <p:cNvSpPr/>
          <p:nvPr/>
        </p:nvSpPr>
        <p:spPr>
          <a:xfrm>
            <a:off x="548640" y="1051560"/>
            <a:ext cx="10972800" cy="365760"/>
          </a:xfrm>
          <a:prstGeom prst="rect">
            <a:avLst/>
          </a:prstGeom>
          <a:noFill/>
          <a:ln/>
        </p:spPr>
        <p:txBody>
          <a:bodyPr wrap="square" rtlCol="0" anchor="ctr"/>
          <a:lstStyle/>
          <a:p>
            <a:pPr indent="0" marL="0">
              <a:buNone/>
            </a:pPr>
            <a:r>
              <a:rPr lang="en-US" sz="1600" i="1" dirty="0">
                <a:solidFill>
                  <a:srgbClr val="334155"/>
                </a:solidFill>
                <a:latin typeface="Calibri" pitchFamily="34" charset="0"/>
                <a:ea typeface="Calibri" pitchFamily="34" charset="-122"/>
                <a:cs typeface="Calibri" pitchFamily="34" charset="-120"/>
              </a:rPr>
              <a:t>The LED is an ambient classroom signal — no teacher voice required</a:t>
            </a:r>
            <a:endParaRPr lang="en-US" sz="1600" dirty="0"/>
          </a:p>
        </p:txBody>
      </p:sp>
      <p:sp>
        <p:nvSpPr>
          <p:cNvPr id="4" name="Shape 2"/>
          <p:cNvSpPr/>
          <p:nvPr/>
        </p:nvSpPr>
        <p:spPr>
          <a:xfrm>
            <a:off x="1097280" y="1828800"/>
            <a:ext cx="2286000" cy="2286000"/>
          </a:xfrm>
          <a:prstGeom prst="ellipse">
            <a:avLst/>
          </a:prstGeom>
          <a:solidFill>
            <a:srgbClr val="10B981"/>
          </a:solidFill>
          <a:ln w="12700">
            <a:solidFill>
              <a:srgbClr val="10B981"/>
            </a:solidFill>
            <a:prstDash val="solid"/>
          </a:ln>
          <a:effectLst>
            <a:outerShdw sx="100000" sy="100000" kx="0" ky="0" algn="bl" rotWithShape="0" blurRad="152400" dist="25400" dir="16200000">
              <a:srgbClr val="94A3B8">
                <a:alpha val="30000"/>
              </a:srgbClr>
            </a:outerShdw>
          </a:effectLst>
        </p:spPr>
      </p:sp>
      <p:sp>
        <p:nvSpPr>
          <p:cNvPr id="5" name="Text 3"/>
          <p:cNvSpPr/>
          <p:nvPr/>
        </p:nvSpPr>
        <p:spPr>
          <a:xfrm>
            <a:off x="1097280" y="2606040"/>
            <a:ext cx="2286000" cy="6400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&lt; 50 dB</a:t>
            </a:r>
            <a:endParaRPr lang="en-US" sz="2200" dirty="0"/>
          </a:p>
        </p:txBody>
      </p:sp>
      <p:sp>
        <p:nvSpPr>
          <p:cNvPr id="6" name="Text 4"/>
          <p:cNvSpPr/>
          <p:nvPr/>
        </p:nvSpPr>
        <p:spPr>
          <a:xfrm>
            <a:off x="640080" y="4297680"/>
            <a:ext cx="3200400" cy="457200"/>
          </a:xfrm>
          <a:prstGeom prst="rect">
            <a:avLst/>
          </a:prstGeom>
          <a:noFill/>
          <a:ln/>
        </p:spPr>
        <p:txBody>
          <a:bodyPr wrap="square" rtlCol="0" anchor="ctr"/>
          <a:lstStyle/>
          <a:p>
            <a:pPr algn="ctr" indent="0" marL="0">
              <a:buNone/>
            </a:pPr>
            <a:r>
              <a:rPr lang="en-US" sz="2000" b="1" dirty="0">
                <a:solidFill>
                  <a:srgbClr val="1E3A8A"/>
                </a:solidFill>
                <a:latin typeface="Calibri" pitchFamily="34" charset="0"/>
                <a:ea typeface="Calibri" pitchFamily="34" charset="-122"/>
                <a:cs typeface="Calibri" pitchFamily="34" charset="-120"/>
              </a:rPr>
              <a:t>Calm</a:t>
            </a:r>
            <a:endParaRPr lang="en-US" sz="2000" dirty="0"/>
          </a:p>
        </p:txBody>
      </p:sp>
      <p:sp>
        <p:nvSpPr>
          <p:cNvPr id="7" name="Text 5"/>
          <p:cNvSpPr/>
          <p:nvPr/>
        </p:nvSpPr>
        <p:spPr>
          <a:xfrm>
            <a:off x="640080" y="4754880"/>
            <a:ext cx="3200400" cy="1097280"/>
          </a:xfrm>
          <a:prstGeom prst="rect">
            <a:avLst/>
          </a:prstGeom>
          <a:noFill/>
          <a:ln/>
        </p:spPr>
        <p:txBody>
          <a:bodyPr wrap="square" rtlCol="0" anchor="ctr"/>
          <a:lstStyle/>
          <a:p>
            <a:pPr algn="ctr" indent="0" marL="0">
              <a:buNone/>
            </a:pPr>
            <a:r>
              <a:rPr lang="en-US" sz="1300" dirty="0">
                <a:solidFill>
                  <a:srgbClr val="334155"/>
                </a:solidFill>
                <a:latin typeface="Calibri" pitchFamily="34" charset="0"/>
                <a:ea typeface="Calibri" pitchFamily="34" charset="-122"/>
                <a:cs typeface="Calibri" pitchFamily="34" charset="-120"/>
              </a:rPr>
              <a:t>Reading, individual work, focused listening.</a:t>
            </a:r>
            <a:endParaRPr lang="en-US" sz="1300" dirty="0"/>
          </a:p>
        </p:txBody>
      </p:sp>
      <p:sp>
        <p:nvSpPr>
          <p:cNvPr id="8" name="Shape 6"/>
          <p:cNvSpPr/>
          <p:nvPr/>
        </p:nvSpPr>
        <p:spPr>
          <a:xfrm>
            <a:off x="4937760" y="1828800"/>
            <a:ext cx="2286000" cy="2286000"/>
          </a:xfrm>
          <a:prstGeom prst="ellipse">
            <a:avLst/>
          </a:prstGeom>
          <a:solidFill>
            <a:srgbClr val="F59E0B"/>
          </a:solidFill>
          <a:ln w="12700">
            <a:solidFill>
              <a:srgbClr val="F59E0B"/>
            </a:solidFill>
            <a:prstDash val="solid"/>
          </a:ln>
          <a:effectLst>
            <a:outerShdw sx="100000" sy="100000" kx="0" ky="0" algn="bl" rotWithShape="0" blurRad="152400" dist="25400" dir="16200000">
              <a:srgbClr val="94A3B8">
                <a:alpha val="30000"/>
              </a:srgbClr>
            </a:outerShdw>
          </a:effectLst>
        </p:spPr>
      </p:sp>
      <p:sp>
        <p:nvSpPr>
          <p:cNvPr id="9" name="Text 7"/>
          <p:cNvSpPr/>
          <p:nvPr/>
        </p:nvSpPr>
        <p:spPr>
          <a:xfrm>
            <a:off x="4937760" y="2606040"/>
            <a:ext cx="2286000" cy="6400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50 – 70 dB</a:t>
            </a:r>
            <a:endParaRPr lang="en-US" sz="2200" dirty="0"/>
          </a:p>
        </p:txBody>
      </p:sp>
      <p:sp>
        <p:nvSpPr>
          <p:cNvPr id="10" name="Text 8"/>
          <p:cNvSpPr/>
          <p:nvPr/>
        </p:nvSpPr>
        <p:spPr>
          <a:xfrm>
            <a:off x="4480560" y="4297680"/>
            <a:ext cx="3200400" cy="457200"/>
          </a:xfrm>
          <a:prstGeom prst="rect">
            <a:avLst/>
          </a:prstGeom>
          <a:noFill/>
          <a:ln/>
        </p:spPr>
        <p:txBody>
          <a:bodyPr wrap="square" rtlCol="0" anchor="ctr"/>
          <a:lstStyle/>
          <a:p>
            <a:pPr algn="ctr" indent="0" marL="0">
              <a:buNone/>
            </a:pPr>
            <a:r>
              <a:rPr lang="en-US" sz="2000" b="1" dirty="0">
                <a:solidFill>
                  <a:srgbClr val="1E3A8A"/>
                </a:solidFill>
                <a:latin typeface="Calibri" pitchFamily="34" charset="0"/>
                <a:ea typeface="Calibri" pitchFamily="34" charset="-122"/>
                <a:cs typeface="Calibri" pitchFamily="34" charset="-120"/>
              </a:rPr>
              <a:t>Working</a:t>
            </a:r>
            <a:endParaRPr lang="en-US" sz="2000" dirty="0"/>
          </a:p>
        </p:txBody>
      </p:sp>
      <p:sp>
        <p:nvSpPr>
          <p:cNvPr id="11" name="Text 9"/>
          <p:cNvSpPr/>
          <p:nvPr/>
        </p:nvSpPr>
        <p:spPr>
          <a:xfrm>
            <a:off x="4480560" y="4754880"/>
            <a:ext cx="3200400" cy="1097280"/>
          </a:xfrm>
          <a:prstGeom prst="rect">
            <a:avLst/>
          </a:prstGeom>
          <a:noFill/>
          <a:ln/>
        </p:spPr>
        <p:txBody>
          <a:bodyPr wrap="square" rtlCol="0" anchor="ctr"/>
          <a:lstStyle/>
          <a:p>
            <a:pPr algn="ctr" indent="0" marL="0">
              <a:buNone/>
            </a:pPr>
            <a:r>
              <a:rPr lang="en-US" sz="1300" dirty="0">
                <a:solidFill>
                  <a:srgbClr val="334155"/>
                </a:solidFill>
                <a:latin typeface="Calibri" pitchFamily="34" charset="0"/>
                <a:ea typeface="Calibri" pitchFamily="34" charset="-122"/>
                <a:cs typeface="Calibri" pitchFamily="34" charset="-120"/>
              </a:rPr>
              <a:t>Group work, lively discussion, normal class buzz.</a:t>
            </a:r>
            <a:endParaRPr lang="en-US" sz="1300" dirty="0"/>
          </a:p>
        </p:txBody>
      </p:sp>
      <p:sp>
        <p:nvSpPr>
          <p:cNvPr id="12" name="Shape 10"/>
          <p:cNvSpPr/>
          <p:nvPr/>
        </p:nvSpPr>
        <p:spPr>
          <a:xfrm>
            <a:off x="8778240" y="1828800"/>
            <a:ext cx="2286000" cy="2286000"/>
          </a:xfrm>
          <a:prstGeom prst="ellipse">
            <a:avLst/>
          </a:prstGeom>
          <a:solidFill>
            <a:srgbClr val="EF4444"/>
          </a:solidFill>
          <a:ln w="12700">
            <a:solidFill>
              <a:srgbClr val="EF4444"/>
            </a:solidFill>
            <a:prstDash val="solid"/>
          </a:ln>
          <a:effectLst>
            <a:outerShdw sx="100000" sy="100000" kx="0" ky="0" algn="bl" rotWithShape="0" blurRad="152400" dist="25400" dir="16200000">
              <a:srgbClr val="94A3B8">
                <a:alpha val="30000"/>
              </a:srgbClr>
            </a:outerShdw>
          </a:effectLst>
        </p:spPr>
      </p:sp>
      <p:sp>
        <p:nvSpPr>
          <p:cNvPr id="13" name="Text 11"/>
          <p:cNvSpPr/>
          <p:nvPr/>
        </p:nvSpPr>
        <p:spPr>
          <a:xfrm>
            <a:off x="8778240" y="2606040"/>
            <a:ext cx="2286000" cy="6400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&gt; 70 dB</a:t>
            </a:r>
            <a:endParaRPr lang="en-US" sz="2200" dirty="0"/>
          </a:p>
        </p:txBody>
      </p:sp>
      <p:sp>
        <p:nvSpPr>
          <p:cNvPr id="14" name="Text 12"/>
          <p:cNvSpPr/>
          <p:nvPr/>
        </p:nvSpPr>
        <p:spPr>
          <a:xfrm>
            <a:off x="8321040" y="4297680"/>
            <a:ext cx="3200400" cy="457200"/>
          </a:xfrm>
          <a:prstGeom prst="rect">
            <a:avLst/>
          </a:prstGeom>
          <a:noFill/>
          <a:ln/>
        </p:spPr>
        <p:txBody>
          <a:bodyPr wrap="square" rtlCol="0" anchor="ctr"/>
          <a:lstStyle/>
          <a:p>
            <a:pPr algn="ctr" indent="0" marL="0">
              <a:buNone/>
            </a:pPr>
            <a:r>
              <a:rPr lang="en-US" sz="2000" b="1" dirty="0">
                <a:solidFill>
                  <a:srgbClr val="1E3A8A"/>
                </a:solidFill>
                <a:latin typeface="Calibri" pitchFamily="34" charset="0"/>
                <a:ea typeface="Calibri" pitchFamily="34" charset="-122"/>
                <a:cs typeface="Calibri" pitchFamily="34" charset="-120"/>
              </a:rPr>
              <a:t>Too loud</a:t>
            </a:r>
            <a:endParaRPr lang="en-US" sz="2000" dirty="0"/>
          </a:p>
        </p:txBody>
      </p:sp>
      <p:sp>
        <p:nvSpPr>
          <p:cNvPr id="15" name="Text 13"/>
          <p:cNvSpPr/>
          <p:nvPr/>
        </p:nvSpPr>
        <p:spPr>
          <a:xfrm>
            <a:off x="8321040" y="4754880"/>
            <a:ext cx="3200400" cy="1097280"/>
          </a:xfrm>
          <a:prstGeom prst="rect">
            <a:avLst/>
          </a:prstGeom>
          <a:noFill/>
          <a:ln/>
        </p:spPr>
        <p:txBody>
          <a:bodyPr wrap="square" rtlCol="0" anchor="ctr"/>
          <a:lstStyle/>
          <a:p>
            <a:pPr algn="ctr" indent="0" marL="0">
              <a:buNone/>
            </a:pPr>
            <a:r>
              <a:rPr lang="en-US" sz="1300" dirty="0">
                <a:solidFill>
                  <a:srgbClr val="334155"/>
                </a:solidFill>
                <a:latin typeface="Calibri" pitchFamily="34" charset="0"/>
                <a:ea typeface="Calibri" pitchFamily="34" charset="-122"/>
                <a:cs typeface="Calibri" pitchFamily="34" charset="-120"/>
              </a:rPr>
              <a:t>Time to pause, breathe, reset the room.</a:t>
            </a:r>
            <a:endParaRPr lang="en-US" sz="1300" dirty="0"/>
          </a:p>
        </p:txBody>
      </p:sp>
      <p:sp>
        <p:nvSpPr>
          <p:cNvPr id="25" name="Slide Number Placeholder 0"/>
          <p:cNvSpPr>
            <a:spLocks noGrp="1"/>
          </p:cNvSpPr>
          <p:nvPr>
            <p:ph type="sldNum" sz="quarter" idx="4294967295"/>
          </p:nvPr>
        </p:nvSpPr>
        <p:spPr>
          <a:xfrm>
            <a:off x="11704320"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334155"/>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indent="0" marL="0">
              <a:buNone/>
            </a:pPr>
            <a:r>
              <a:rPr lang="en-US" sz="3000" b="1" dirty="0">
                <a:solidFill>
                  <a:srgbClr val="1E3A8A"/>
                </a:solidFill>
                <a:latin typeface="Calibri" pitchFamily="34" charset="0"/>
                <a:ea typeface="Calibri" pitchFamily="34" charset="-122"/>
                <a:cs typeface="Calibri" pitchFamily="34" charset="-120"/>
              </a:rPr>
              <a:t>The dashboard — live view of every microphone</a:t>
            </a:r>
            <a:endParaRPr lang="en-US" sz="3000" dirty="0"/>
          </a:p>
        </p:txBody>
      </p:sp>
      <p:sp>
        <p:nvSpPr>
          <p:cNvPr id="3" name="Text 1"/>
          <p:cNvSpPr/>
          <p:nvPr/>
        </p:nvSpPr>
        <p:spPr>
          <a:xfrm>
            <a:off x="548640" y="1051560"/>
            <a:ext cx="10972800" cy="365760"/>
          </a:xfrm>
          <a:prstGeom prst="rect">
            <a:avLst/>
          </a:prstGeom>
          <a:noFill/>
          <a:ln/>
        </p:spPr>
        <p:txBody>
          <a:bodyPr wrap="square" rtlCol="0" anchor="ctr"/>
          <a:lstStyle/>
          <a:p>
            <a:pPr indent="0" marL="0">
              <a:buNone/>
            </a:pPr>
            <a:r>
              <a:rPr lang="en-US" sz="1600" i="1" dirty="0">
                <a:solidFill>
                  <a:srgbClr val="334155"/>
                </a:solidFill>
                <a:latin typeface="Calibri" pitchFamily="34" charset="0"/>
                <a:ea typeface="Calibri" pitchFamily="34" charset="-122"/>
                <a:cs typeface="Calibri" pitchFamily="34" charset="-120"/>
              </a:rPr>
              <a:t>One classroom shown here with five active listening points</a:t>
            </a:r>
            <a:endParaRPr lang="en-US" sz="1600" dirty="0"/>
          </a:p>
        </p:txBody>
      </p:sp>
      <p:sp>
        <p:nvSpPr>
          <p:cNvPr id="4" name="Shape 2"/>
          <p:cNvSpPr/>
          <p:nvPr/>
        </p:nvSpPr>
        <p:spPr>
          <a:xfrm>
            <a:off x="548640" y="1554480"/>
            <a:ext cx="7680960" cy="4754880"/>
          </a:xfrm>
          <a:prstGeom prst="roundRect">
            <a:avLst>
              <a:gd name="adj" fmla="val 1538"/>
            </a:avLst>
          </a:prstGeom>
          <a:solidFill>
            <a:srgbClr val="FFFFFF"/>
          </a:solidFill>
          <a:ln w="9525">
            <a:solidFill>
              <a:srgbClr val="CBD5E1"/>
            </a:solidFill>
            <a:prstDash val="solid"/>
          </a:ln>
          <a:effectLst>
            <a:outerShdw sx="100000" sy="100000" kx="0" ky="0" algn="bl" rotWithShape="0" blurRad="76200" dist="12700" dir="16200000">
              <a:srgbClr val="94A3B8">
                <a:alpha val="15000"/>
              </a:srgbClr>
            </a:outerShdw>
          </a:effectLst>
        </p:spPr>
      </p:sp>
      <p:pic>
        <p:nvPicPr>
          <p:cNvPr id="5" name="Image 0" descr="C:\Users\Departamento\Desktop\SoundMetrics\microfonoAula\docs\fotos\IMG_20260511_175247_125.jpg">    </p:cNvPr>
          <p:cNvPicPr>
            <a:picLocks noChangeAspect="1"/>
          </p:cNvPicPr>
          <p:nvPr/>
        </p:nvPicPr>
        <p:blipFill>
          <a:blip r:embed="rId1"/>
          <a:srcRect l="0" r="0" t="0" b="0"/>
          <a:stretch/>
        </p:blipFill>
        <p:spPr>
          <a:xfrm>
            <a:off x="640080" y="1645920"/>
            <a:ext cx="7498080" cy="4206240"/>
          </a:xfrm>
          <a:prstGeom prst="rect">
            <a:avLst/>
          </a:prstGeom>
        </p:spPr>
      </p:pic>
      <p:sp>
        <p:nvSpPr>
          <p:cNvPr id="6" name="Text 3"/>
          <p:cNvSpPr/>
          <p:nvPr/>
        </p:nvSpPr>
        <p:spPr>
          <a:xfrm>
            <a:off x="685800" y="5806440"/>
            <a:ext cx="7406640" cy="365760"/>
          </a:xfrm>
          <a:prstGeom prst="rect">
            <a:avLst/>
          </a:prstGeom>
          <a:noFill/>
          <a:ln/>
        </p:spPr>
        <p:txBody>
          <a:bodyPr wrap="square" rtlCol="0" anchor="ctr"/>
          <a:lstStyle/>
          <a:p>
            <a:pPr algn="ctr" indent="0" marL="0">
              <a:buNone/>
            </a:pPr>
            <a:r>
              <a:rPr lang="en-US" sz="1100" i="1" dirty="0">
                <a:solidFill>
                  <a:srgbClr val="334155"/>
                </a:solidFill>
                <a:latin typeface="Calibri" pitchFamily="34" charset="0"/>
                <a:ea typeface="Calibri" pitchFamily="34" charset="-122"/>
                <a:cs typeface="Calibri" pitchFamily="34" charset="-120"/>
              </a:rPr>
              <a:t>Live view of Aula 01 — five mics reporting 39 – 53 dB, room average 44.7 dB.</a:t>
            </a:r>
            <a:endParaRPr lang="en-US" sz="1100" dirty="0"/>
          </a:p>
        </p:txBody>
      </p:sp>
      <p:sp>
        <p:nvSpPr>
          <p:cNvPr id="7" name="Shape 4"/>
          <p:cNvSpPr/>
          <p:nvPr/>
        </p:nvSpPr>
        <p:spPr>
          <a:xfrm>
            <a:off x="8412480" y="1554480"/>
            <a:ext cx="3291840" cy="4754880"/>
          </a:xfrm>
          <a:prstGeom prst="roundRect">
            <a:avLst>
              <a:gd name="adj" fmla="val 2222"/>
            </a:avLst>
          </a:prstGeom>
          <a:solidFill>
            <a:srgbClr val="FFFFFF"/>
          </a:solidFill>
          <a:ln w="9525">
            <a:solidFill>
              <a:srgbClr val="CBD5E1"/>
            </a:solidFill>
            <a:prstDash val="solid"/>
          </a:ln>
          <a:effectLst>
            <a:outerShdw sx="100000" sy="100000" kx="0" ky="0" algn="bl" rotWithShape="0" blurRad="76200" dist="12700" dir="16200000">
              <a:srgbClr val="94A3B8">
                <a:alpha val="15000"/>
              </a:srgbClr>
            </a:outerShdw>
          </a:effectLst>
        </p:spPr>
      </p:sp>
      <p:sp>
        <p:nvSpPr>
          <p:cNvPr id="8" name="Text 5"/>
          <p:cNvSpPr/>
          <p:nvPr/>
        </p:nvSpPr>
        <p:spPr>
          <a:xfrm>
            <a:off x="8595360" y="1691640"/>
            <a:ext cx="3017520" cy="457200"/>
          </a:xfrm>
          <a:prstGeom prst="rect">
            <a:avLst/>
          </a:prstGeom>
          <a:noFill/>
          <a:ln/>
        </p:spPr>
        <p:txBody>
          <a:bodyPr wrap="square" rtlCol="0" anchor="ctr"/>
          <a:lstStyle/>
          <a:p>
            <a:pPr indent="0" marL="0">
              <a:buNone/>
            </a:pPr>
            <a:r>
              <a:rPr lang="en-US" sz="1800" b="1" dirty="0">
                <a:solidFill>
                  <a:srgbClr val="1E3A8A"/>
                </a:solidFill>
                <a:latin typeface="Calibri" pitchFamily="34" charset="0"/>
                <a:ea typeface="Calibri" pitchFamily="34" charset="-122"/>
                <a:cs typeface="Calibri" pitchFamily="34" charset="-120"/>
              </a:rPr>
              <a:t>What you see</a:t>
            </a:r>
            <a:endParaRPr lang="en-US" sz="1800" dirty="0"/>
          </a:p>
        </p:txBody>
      </p:sp>
      <p:sp>
        <p:nvSpPr>
          <p:cNvPr id="9" name="Text 6"/>
          <p:cNvSpPr/>
          <p:nvPr/>
        </p:nvSpPr>
        <p:spPr>
          <a:xfrm>
            <a:off x="8595360" y="2194560"/>
            <a:ext cx="3017520" cy="4023360"/>
          </a:xfrm>
          <a:prstGeom prst="rect">
            <a:avLst/>
          </a:prstGeom>
          <a:noFill/>
          <a:ln/>
        </p:spPr>
        <p:txBody>
          <a:bodyPr wrap="square" rtlCol="0" anchor="t"/>
          <a:lstStyle/>
          <a:p>
            <a:pPr algn="just" marL="342900" indent="-342900">
              <a:spcAft>
                <a:spcPts val="1000"/>
              </a:spcAft>
              <a:buSzPct val="100000"/>
              <a:buChar char="■"/>
            </a:pPr>
            <a:r>
              <a:rPr lang="en-US" sz="1200" dirty="0">
                <a:solidFill>
                  <a:srgbClr val="0F172A"/>
                </a:solidFill>
                <a:latin typeface="Calibri" pitchFamily="34" charset="0"/>
                <a:ea typeface="Calibri" pitchFamily="34" charset="-122"/>
                <a:cs typeface="Calibri" pitchFamily="34" charset="-120"/>
              </a:rPr>
              <a:t>The room average in large numerals.</a:t>
            </a:r>
            <a:pPr algn="just" marL="342900" indent="-342900">
              <a:spcAft>
                <a:spcPts val="1000"/>
              </a:spcAft>
              <a:buSzPct val="100000"/>
              <a:buChar char="■"/>
            </a:pPr>
            <a:r>
              <a:rPr lang="en-US" sz="1200" dirty="0">
                <a:solidFill>
                  <a:srgbClr val="0F172A"/>
                </a:solidFill>
                <a:latin typeface="Calibri" pitchFamily="34" charset="0"/>
                <a:ea typeface="Calibri" pitchFamily="34" charset="-122"/>
                <a:cs typeface="Calibri" pitchFamily="34" charset="-120"/>
              </a:rPr>
              <a:t>Each individual mic with its own value.</a:t>
            </a:r>
            <a:pPr algn="just" marL="342900" indent="-342900">
              <a:spcAft>
                <a:spcPts val="1000"/>
              </a:spcAft>
              <a:buSzPct val="100000"/>
              <a:buChar char="■"/>
            </a:pPr>
            <a:r>
              <a:rPr lang="en-US" sz="1200" dirty="0">
                <a:solidFill>
                  <a:srgbClr val="0F172A"/>
                </a:solidFill>
                <a:latin typeface="Calibri" pitchFamily="34" charset="0"/>
                <a:ea typeface="Calibri" pitchFamily="34" charset="-122"/>
                <a:cs typeface="Calibri" pitchFamily="34" charset="-120"/>
              </a:rPr>
              <a:t>Colour coding matches the LED traffic light.</a:t>
            </a:r>
            <a:pPr algn="just" marL="342900" indent="-342900">
              <a:spcAft>
                <a:spcPts val="1000"/>
              </a:spcAft>
              <a:buSzPct val="100000"/>
              <a:buChar char="■"/>
            </a:pPr>
            <a:r>
              <a:rPr lang="en-US" sz="1200" dirty="0">
                <a:solidFill>
                  <a:srgbClr val="0F172A"/>
                </a:solidFill>
                <a:latin typeface="Calibri" pitchFamily="34" charset="0"/>
                <a:ea typeface="Calibri" pitchFamily="34" charset="-122"/>
                <a:cs typeface="Calibri" pitchFamily="34" charset="-120"/>
              </a:rPr>
              <a:t>Status header shows how many mics are active.</a:t>
            </a:r>
            <a:pPr algn="just" marL="342900" indent="-342900">
              <a:spcAft>
                <a:spcPts val="1000"/>
              </a:spcAft>
              <a:buSzPct val="100000"/>
              <a:buChar char="■"/>
            </a:pPr>
            <a:r>
              <a:rPr lang="en-US" sz="1200" dirty="0">
                <a:solidFill>
                  <a:srgbClr val="0F172A"/>
                </a:solidFill>
                <a:latin typeface="Calibri" pitchFamily="34" charset="0"/>
                <a:ea typeface="Calibri" pitchFamily="34" charset="-122"/>
                <a:cs typeface="Calibri" pitchFamily="34" charset="-120"/>
              </a:rPr>
              <a:t>Updates in real time through WebSockets.</a:t>
            </a:r>
            <a:endParaRPr lang="en-US" sz="1200" dirty="0"/>
          </a:p>
        </p:txBody>
      </p:sp>
      <p:sp>
        <p:nvSpPr>
          <p:cNvPr id="25" name="Slide Number Placeholder 0"/>
          <p:cNvSpPr>
            <a:spLocks noGrp="1"/>
          </p:cNvSpPr>
          <p:nvPr>
            <p:ph type="sldNum" sz="quarter" idx="4294967295"/>
          </p:nvPr>
        </p:nvSpPr>
        <p:spPr>
          <a:xfrm>
            <a:off x="11704320"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334155"/>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indent="0" marL="0">
              <a:buNone/>
            </a:pPr>
            <a:r>
              <a:rPr lang="en-US" sz="3000" b="1" dirty="0">
                <a:solidFill>
                  <a:srgbClr val="1E3A8A"/>
                </a:solidFill>
                <a:latin typeface="Calibri" pitchFamily="34" charset="0"/>
                <a:ea typeface="Calibri" pitchFamily="34" charset="-122"/>
                <a:cs typeface="Calibri" pitchFamily="34" charset="-120"/>
              </a:rPr>
              <a:t>The dashboard — historical view</a:t>
            </a:r>
            <a:endParaRPr lang="en-US" sz="3000" dirty="0"/>
          </a:p>
        </p:txBody>
      </p:sp>
      <p:sp>
        <p:nvSpPr>
          <p:cNvPr id="3" name="Text 1"/>
          <p:cNvSpPr/>
          <p:nvPr/>
        </p:nvSpPr>
        <p:spPr>
          <a:xfrm>
            <a:off x="548640" y="1051560"/>
            <a:ext cx="10972800" cy="365760"/>
          </a:xfrm>
          <a:prstGeom prst="rect">
            <a:avLst/>
          </a:prstGeom>
          <a:noFill/>
          <a:ln/>
        </p:spPr>
        <p:txBody>
          <a:bodyPr wrap="square" rtlCol="0" anchor="ctr"/>
          <a:lstStyle/>
          <a:p>
            <a:pPr indent="0" marL="0">
              <a:buNone/>
            </a:pPr>
            <a:r>
              <a:rPr lang="en-US" sz="1600" i="1" dirty="0">
                <a:solidFill>
                  <a:srgbClr val="334155"/>
                </a:solidFill>
                <a:latin typeface="Calibri" pitchFamily="34" charset="0"/>
                <a:ea typeface="Calibri" pitchFamily="34" charset="-122"/>
                <a:cs typeface="Calibri" pitchFamily="34" charset="-120"/>
              </a:rPr>
              <a:t>Day-by-day patterns, per timetable slot, with stable long-term storage</a:t>
            </a:r>
            <a:endParaRPr lang="en-US" sz="1600" dirty="0"/>
          </a:p>
        </p:txBody>
      </p:sp>
      <p:sp>
        <p:nvSpPr>
          <p:cNvPr id="4" name="Shape 2"/>
          <p:cNvSpPr/>
          <p:nvPr/>
        </p:nvSpPr>
        <p:spPr>
          <a:xfrm>
            <a:off x="548640" y="1554480"/>
            <a:ext cx="7680960" cy="4754880"/>
          </a:xfrm>
          <a:prstGeom prst="roundRect">
            <a:avLst>
              <a:gd name="adj" fmla="val 1538"/>
            </a:avLst>
          </a:prstGeom>
          <a:solidFill>
            <a:srgbClr val="FFFFFF"/>
          </a:solidFill>
          <a:ln w="9525">
            <a:solidFill>
              <a:srgbClr val="CBD5E1"/>
            </a:solidFill>
            <a:prstDash val="solid"/>
          </a:ln>
          <a:effectLst>
            <a:outerShdw sx="100000" sy="100000" kx="0" ky="0" algn="bl" rotWithShape="0" blurRad="76200" dist="12700" dir="16200000">
              <a:srgbClr val="94A3B8">
                <a:alpha val="15000"/>
              </a:srgbClr>
            </a:outerShdw>
          </a:effectLst>
        </p:spPr>
      </p:sp>
      <p:pic>
        <p:nvPicPr>
          <p:cNvPr id="5" name="Image 0" descr="C:\Users\Departamento\Desktop\SoundMetrics\microfonoAula\docs\fotos\IMG_20260511_175247_131.jpg">    </p:cNvPr>
          <p:cNvPicPr>
            <a:picLocks noChangeAspect="1"/>
          </p:cNvPicPr>
          <p:nvPr/>
        </p:nvPicPr>
        <p:blipFill>
          <a:blip r:embed="rId1"/>
          <a:srcRect l="0" r="0" t="0" b="0"/>
          <a:stretch/>
        </p:blipFill>
        <p:spPr>
          <a:xfrm>
            <a:off x="640080" y="1645920"/>
            <a:ext cx="7498080" cy="4206240"/>
          </a:xfrm>
          <a:prstGeom prst="rect">
            <a:avLst/>
          </a:prstGeom>
        </p:spPr>
      </p:pic>
      <p:sp>
        <p:nvSpPr>
          <p:cNvPr id="6" name="Text 3"/>
          <p:cNvSpPr/>
          <p:nvPr/>
        </p:nvSpPr>
        <p:spPr>
          <a:xfrm>
            <a:off x="685800" y="5806440"/>
            <a:ext cx="7406640" cy="365760"/>
          </a:xfrm>
          <a:prstGeom prst="rect">
            <a:avLst/>
          </a:prstGeom>
          <a:noFill/>
          <a:ln/>
        </p:spPr>
        <p:txBody>
          <a:bodyPr wrap="square" rtlCol="0" anchor="ctr"/>
          <a:lstStyle/>
          <a:p>
            <a:pPr algn="ctr" indent="0" marL="0">
              <a:buNone/>
            </a:pPr>
            <a:r>
              <a:rPr lang="en-US" sz="1100" i="1" dirty="0">
                <a:solidFill>
                  <a:srgbClr val="334155"/>
                </a:solidFill>
                <a:latin typeface="Calibri" pitchFamily="34" charset="0"/>
                <a:ea typeface="Calibri" pitchFamily="34" charset="-122"/>
                <a:cs typeface="Calibri" pitchFamily="34" charset="-120"/>
              </a:rPr>
              <a:t>Daily view: average per timetable slot, with min and max bars for each lesson period.</a:t>
            </a:r>
            <a:endParaRPr lang="en-US" sz="1100" dirty="0"/>
          </a:p>
        </p:txBody>
      </p:sp>
      <p:sp>
        <p:nvSpPr>
          <p:cNvPr id="7" name="Shape 4"/>
          <p:cNvSpPr/>
          <p:nvPr/>
        </p:nvSpPr>
        <p:spPr>
          <a:xfrm>
            <a:off x="8412480" y="1554480"/>
            <a:ext cx="3291840" cy="4754880"/>
          </a:xfrm>
          <a:prstGeom prst="roundRect">
            <a:avLst>
              <a:gd name="adj" fmla="val 2222"/>
            </a:avLst>
          </a:prstGeom>
          <a:solidFill>
            <a:srgbClr val="FFFFFF"/>
          </a:solidFill>
          <a:ln w="9525">
            <a:solidFill>
              <a:srgbClr val="CBD5E1"/>
            </a:solidFill>
            <a:prstDash val="solid"/>
          </a:ln>
          <a:effectLst>
            <a:outerShdw sx="100000" sy="100000" kx="0" ky="0" algn="bl" rotWithShape="0" blurRad="76200" dist="12700" dir="16200000">
              <a:srgbClr val="94A3B8">
                <a:alpha val="15000"/>
              </a:srgbClr>
            </a:outerShdw>
          </a:effectLst>
        </p:spPr>
      </p:sp>
      <p:sp>
        <p:nvSpPr>
          <p:cNvPr id="8" name="Text 5"/>
          <p:cNvSpPr/>
          <p:nvPr/>
        </p:nvSpPr>
        <p:spPr>
          <a:xfrm>
            <a:off x="8595360" y="1691640"/>
            <a:ext cx="3017520" cy="457200"/>
          </a:xfrm>
          <a:prstGeom prst="rect">
            <a:avLst/>
          </a:prstGeom>
          <a:noFill/>
          <a:ln/>
        </p:spPr>
        <p:txBody>
          <a:bodyPr wrap="square" rtlCol="0" anchor="ctr"/>
          <a:lstStyle/>
          <a:p>
            <a:pPr indent="0" marL="0">
              <a:buNone/>
            </a:pPr>
            <a:r>
              <a:rPr lang="en-US" sz="1800" b="1" dirty="0">
                <a:solidFill>
                  <a:srgbClr val="1E3A8A"/>
                </a:solidFill>
                <a:latin typeface="Calibri" pitchFamily="34" charset="0"/>
                <a:ea typeface="Calibri" pitchFamily="34" charset="-122"/>
                <a:cs typeface="Calibri" pitchFamily="34" charset="-120"/>
              </a:rPr>
              <a:t>Under the hood</a:t>
            </a:r>
            <a:endParaRPr lang="en-US" sz="1800" dirty="0"/>
          </a:p>
        </p:txBody>
      </p:sp>
      <p:sp>
        <p:nvSpPr>
          <p:cNvPr id="9" name="Text 6"/>
          <p:cNvSpPr/>
          <p:nvPr/>
        </p:nvSpPr>
        <p:spPr>
          <a:xfrm>
            <a:off x="8595360" y="2194560"/>
            <a:ext cx="3017520" cy="4023360"/>
          </a:xfrm>
          <a:prstGeom prst="rect">
            <a:avLst/>
          </a:prstGeom>
          <a:noFill/>
          <a:ln/>
        </p:spPr>
        <p:txBody>
          <a:bodyPr wrap="square" rtlCol="0" anchor="t"/>
          <a:lstStyle/>
          <a:p>
            <a:pPr algn="just" marL="342900" indent="-342900">
              <a:spcAft>
                <a:spcPts val="1000"/>
              </a:spcAft>
              <a:buSzPct val="100000"/>
              <a:buChar char="■"/>
            </a:pPr>
            <a:r>
              <a:rPr lang="en-US" sz="1200" dirty="0">
                <a:solidFill>
                  <a:srgbClr val="0F172A"/>
                </a:solidFill>
                <a:latin typeface="Calibri" pitchFamily="34" charset="0"/>
                <a:ea typeface="Calibri" pitchFamily="34" charset="-122"/>
                <a:cs typeface="Calibri" pitchFamily="34" charset="-120"/>
              </a:rPr>
              <a:t>Raw 5-second samples for 14 days.</a:t>
            </a:r>
            <a:pPr algn="just" marL="342900" indent="-342900">
              <a:spcAft>
                <a:spcPts val="1000"/>
              </a:spcAft>
              <a:buSzPct val="100000"/>
              <a:buChar char="■"/>
            </a:pPr>
            <a:r>
              <a:rPr lang="en-US" sz="1200" dirty="0">
                <a:solidFill>
                  <a:srgbClr val="0F172A"/>
                </a:solidFill>
                <a:latin typeface="Calibri" pitchFamily="34" charset="0"/>
                <a:ea typeface="Calibri" pitchFamily="34" charset="-122"/>
                <a:cs typeface="Calibri" pitchFamily="34" charset="-120"/>
              </a:rPr>
              <a:t>Per-minute rollups for 6 months.</a:t>
            </a:r>
            <a:pPr algn="just" marL="342900" indent="-342900">
              <a:spcAft>
                <a:spcPts val="1000"/>
              </a:spcAft>
              <a:buSzPct val="100000"/>
              <a:buChar char="■"/>
            </a:pPr>
            <a:r>
              <a:rPr lang="en-US" sz="1200" dirty="0">
                <a:solidFill>
                  <a:srgbClr val="0F172A"/>
                </a:solidFill>
                <a:latin typeface="Calibri" pitchFamily="34" charset="0"/>
                <a:ea typeface="Calibri" pitchFamily="34" charset="-122"/>
                <a:cs typeface="Calibri" pitchFamily="34" charset="-120"/>
              </a:rPr>
              <a:t>Per-hour rollups kept forever.</a:t>
            </a:r>
            <a:pPr algn="just" marL="342900" indent="-342900">
              <a:spcAft>
                <a:spcPts val="1000"/>
              </a:spcAft>
              <a:buSzPct val="100000"/>
              <a:buChar char="■"/>
            </a:pPr>
            <a:r>
              <a:rPr lang="en-US" sz="1200" dirty="0">
                <a:solidFill>
                  <a:srgbClr val="0F172A"/>
                </a:solidFill>
                <a:latin typeface="Calibri" pitchFamily="34" charset="0"/>
                <a:ea typeface="Calibri" pitchFamily="34" charset="-122"/>
                <a:cs typeface="Calibri" pitchFamily="34" charset="-120"/>
              </a:rPr>
              <a:t>Queries switch granularity automatically.</a:t>
            </a:r>
            <a:pPr algn="just" marL="342900" indent="-342900">
              <a:spcAft>
                <a:spcPts val="1000"/>
              </a:spcAft>
              <a:buSzPct val="100000"/>
              <a:buChar char="■"/>
            </a:pPr>
            <a:r>
              <a:rPr lang="en-US" sz="1200" dirty="0">
                <a:solidFill>
                  <a:srgbClr val="0F172A"/>
                </a:solidFill>
                <a:latin typeface="Calibri" pitchFamily="34" charset="0"/>
                <a:ea typeface="Calibri" pitchFamily="34" charset="-122"/>
                <a:cs typeface="Calibri" pitchFamily="34" charset="-120"/>
              </a:rPr>
              <a:t>Histograms align with the school timetable.</a:t>
            </a:r>
            <a:endParaRPr lang="en-US" sz="1200" dirty="0"/>
          </a:p>
        </p:txBody>
      </p:sp>
      <p:sp>
        <p:nvSpPr>
          <p:cNvPr id="25" name="Slide Number Placeholder 0"/>
          <p:cNvSpPr>
            <a:spLocks noGrp="1"/>
          </p:cNvSpPr>
          <p:nvPr>
            <p:ph type="sldNum" sz="quarter" idx="4294967295"/>
          </p:nvPr>
        </p:nvSpPr>
        <p:spPr>
          <a:xfrm>
            <a:off x="11704320"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334155"/>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indent="0" marL="0">
              <a:buNone/>
            </a:pPr>
            <a:r>
              <a:rPr lang="en-US" sz="3000" b="1" dirty="0">
                <a:solidFill>
                  <a:srgbClr val="1E3A8A"/>
                </a:solidFill>
                <a:latin typeface="Calibri" pitchFamily="34" charset="0"/>
                <a:ea typeface="Calibri" pitchFamily="34" charset="-122"/>
                <a:cs typeface="Calibri" pitchFamily="34" charset="-120"/>
              </a:rPr>
              <a:t>Educational angle 1 — Awareness and shared agreements</a:t>
            </a:r>
            <a:endParaRPr lang="en-US" sz="3000" dirty="0"/>
          </a:p>
        </p:txBody>
      </p:sp>
      <p:sp>
        <p:nvSpPr>
          <p:cNvPr id="3" name="Text 1"/>
          <p:cNvSpPr/>
          <p:nvPr/>
        </p:nvSpPr>
        <p:spPr>
          <a:xfrm>
            <a:off x="548640" y="1051560"/>
            <a:ext cx="10972800" cy="365760"/>
          </a:xfrm>
          <a:prstGeom prst="rect">
            <a:avLst/>
          </a:prstGeom>
          <a:noFill/>
          <a:ln/>
        </p:spPr>
        <p:txBody>
          <a:bodyPr wrap="square" rtlCol="0" anchor="ctr"/>
          <a:lstStyle/>
          <a:p>
            <a:pPr indent="0" marL="0">
              <a:buNone/>
            </a:pPr>
            <a:r>
              <a:rPr lang="en-US" sz="1600" i="1" dirty="0">
                <a:solidFill>
                  <a:srgbClr val="334155"/>
                </a:solidFill>
                <a:latin typeface="Calibri" pitchFamily="34" charset="0"/>
                <a:ea typeface="Calibri" pitchFamily="34" charset="-122"/>
                <a:cs typeface="Calibri" pitchFamily="34" charset="-120"/>
              </a:rPr>
              <a:t>Shifting the question from "who is shouting" to "what does our room sound like right now"</a:t>
            </a:r>
            <a:endParaRPr lang="en-US" sz="1600" dirty="0"/>
          </a:p>
        </p:txBody>
      </p:sp>
      <p:sp>
        <p:nvSpPr>
          <p:cNvPr id="4" name="Shape 2"/>
          <p:cNvSpPr/>
          <p:nvPr/>
        </p:nvSpPr>
        <p:spPr>
          <a:xfrm>
            <a:off x="548640" y="1645920"/>
            <a:ext cx="7498080" cy="4572000"/>
          </a:xfrm>
          <a:prstGeom prst="roundRect">
            <a:avLst>
              <a:gd name="adj" fmla="val 1600"/>
            </a:avLst>
          </a:prstGeom>
          <a:solidFill>
            <a:srgbClr val="FFFFFF"/>
          </a:solidFill>
          <a:ln w="9525">
            <a:solidFill>
              <a:srgbClr val="CBD5E1"/>
            </a:solidFill>
            <a:prstDash val="solid"/>
          </a:ln>
          <a:effectLst>
            <a:outerShdw sx="100000" sy="100000" kx="0" ky="0" algn="bl" rotWithShape="0" blurRad="76200" dist="12700" dir="16200000">
              <a:srgbClr val="94A3B8">
                <a:alpha val="15000"/>
              </a:srgbClr>
            </a:outerShdw>
          </a:effectLst>
        </p:spPr>
      </p:sp>
      <p:sp>
        <p:nvSpPr>
          <p:cNvPr id="5" name="Text 3"/>
          <p:cNvSpPr/>
          <p:nvPr/>
        </p:nvSpPr>
        <p:spPr>
          <a:xfrm>
            <a:off x="822960" y="1828800"/>
            <a:ext cx="6949440" cy="457200"/>
          </a:xfrm>
          <a:prstGeom prst="rect">
            <a:avLst/>
          </a:prstGeom>
          <a:noFill/>
          <a:ln/>
        </p:spPr>
        <p:txBody>
          <a:bodyPr wrap="square" rtlCol="0" anchor="ctr"/>
          <a:lstStyle/>
          <a:p>
            <a:pPr indent="0" marL="0">
              <a:buNone/>
            </a:pPr>
            <a:r>
              <a:rPr lang="en-US" sz="2000" b="1" dirty="0">
                <a:solidFill>
                  <a:srgbClr val="1E3A8A"/>
                </a:solidFill>
                <a:latin typeface="Calibri" pitchFamily="34" charset="0"/>
                <a:ea typeface="Calibri" pitchFamily="34" charset="-122"/>
                <a:cs typeface="Calibri" pitchFamily="34" charset="-120"/>
              </a:rPr>
              <a:t>Classroom rituals it makes possible</a:t>
            </a:r>
            <a:endParaRPr lang="en-US" sz="2000" dirty="0"/>
          </a:p>
        </p:txBody>
      </p:sp>
      <p:sp>
        <p:nvSpPr>
          <p:cNvPr id="6" name="Text 4"/>
          <p:cNvSpPr/>
          <p:nvPr/>
        </p:nvSpPr>
        <p:spPr>
          <a:xfrm>
            <a:off x="822960" y="2377440"/>
            <a:ext cx="6949440" cy="3657600"/>
          </a:xfrm>
          <a:prstGeom prst="rect">
            <a:avLst/>
          </a:prstGeom>
          <a:noFill/>
          <a:ln/>
        </p:spPr>
        <p:txBody>
          <a:bodyPr wrap="square" rtlCol="0" anchor="t"/>
          <a:lstStyle/>
          <a:p>
            <a:pPr algn="just" marL="342900" indent="-342900">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Class and teacher agree on a target dB level for individual reading time, and the LED becomes the impartial referee.</a:t>
            </a:r>
            <a:pPr algn="just" marL="342900" indent="-342900">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End-of-lesson reflection: the room looks back at the curve from the day and discusses whether it matched the activity.</a:t>
            </a:r>
            <a:pPr algn="just" marL="342900" indent="-342900">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Substitute teachers can see at a glance what the room is supposed to sound like for each lesson type.</a:t>
            </a:r>
            <a:pPr algn="just" marL="342900" indent="-342900">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Conflict de-escalation: the LED, not the teacher, signals "too loud" — the class regulates the class.</a:t>
            </a:r>
            <a:pPr algn="just" marL="342900" indent="-342900">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Allows quiet students to ask for a quieter environment without singling out a peer.</a:t>
            </a:r>
            <a:endParaRPr lang="en-US" sz="1400" dirty="0"/>
          </a:p>
        </p:txBody>
      </p:sp>
      <p:sp>
        <p:nvSpPr>
          <p:cNvPr id="7" name="Shape 5"/>
          <p:cNvSpPr/>
          <p:nvPr/>
        </p:nvSpPr>
        <p:spPr>
          <a:xfrm>
            <a:off x="8321040" y="1645920"/>
            <a:ext cx="3383280" cy="4572000"/>
          </a:xfrm>
          <a:prstGeom prst="roundRect">
            <a:avLst>
              <a:gd name="adj" fmla="val 2162"/>
            </a:avLst>
          </a:prstGeom>
          <a:solidFill>
            <a:srgbClr val="FEF3C7"/>
          </a:solidFill>
          <a:ln w="9525">
            <a:solidFill>
              <a:srgbClr val="CBD5E1"/>
            </a:solidFill>
            <a:prstDash val="solid"/>
          </a:ln>
          <a:effectLst>
            <a:outerShdw sx="100000" sy="100000" kx="0" ky="0" algn="bl" rotWithShape="0" blurRad="76200" dist="12700" dir="16200000">
              <a:srgbClr val="94A3B8">
                <a:alpha val="15000"/>
              </a:srgbClr>
            </a:outerShdw>
          </a:effectLst>
        </p:spPr>
      </p:sp>
      <p:sp>
        <p:nvSpPr>
          <p:cNvPr id="8" name="Text 6"/>
          <p:cNvSpPr/>
          <p:nvPr/>
        </p:nvSpPr>
        <p:spPr>
          <a:xfrm>
            <a:off x="8503920" y="1828800"/>
            <a:ext cx="3108960" cy="457200"/>
          </a:xfrm>
          <a:prstGeom prst="rect">
            <a:avLst/>
          </a:prstGeom>
          <a:noFill/>
          <a:ln/>
        </p:spPr>
        <p:txBody>
          <a:bodyPr wrap="square" rtlCol="0" anchor="ctr"/>
          <a:lstStyle/>
          <a:p>
            <a:pPr indent="0" marL="0">
              <a:buNone/>
            </a:pPr>
            <a:r>
              <a:rPr lang="en-US" sz="1800" b="1" dirty="0">
                <a:solidFill>
                  <a:srgbClr val="92400E"/>
                </a:solidFill>
                <a:latin typeface="Calibri" pitchFamily="34" charset="0"/>
                <a:ea typeface="Calibri" pitchFamily="34" charset="-122"/>
                <a:cs typeface="Calibri" pitchFamily="34" charset="-120"/>
              </a:rPr>
              <a:t>Why it works</a:t>
            </a:r>
            <a:endParaRPr lang="en-US" sz="1800" dirty="0"/>
          </a:p>
        </p:txBody>
      </p:sp>
      <p:sp>
        <p:nvSpPr>
          <p:cNvPr id="9" name="Text 7"/>
          <p:cNvSpPr/>
          <p:nvPr/>
        </p:nvSpPr>
        <p:spPr>
          <a:xfrm>
            <a:off x="8503920" y="2377440"/>
            <a:ext cx="3108960" cy="3657600"/>
          </a:xfrm>
          <a:prstGeom prst="rect">
            <a:avLst/>
          </a:prstGeom>
          <a:noFill/>
          <a:ln/>
        </p:spPr>
        <p:txBody>
          <a:bodyPr wrap="square" rtlCol="0" anchor="t"/>
          <a:lstStyle/>
          <a:p>
            <a:pPr algn="just" indent="0" marL="0">
              <a:spcAft>
                <a:spcPts val="800"/>
              </a:spcAft>
              <a:buNone/>
            </a:pPr>
            <a:r>
              <a:rPr lang="en-US" sz="1300" i="1" dirty="0">
                <a:solidFill>
                  <a:srgbClr val="78350F"/>
                </a:solidFill>
                <a:latin typeface="Calibri" pitchFamily="34" charset="0"/>
                <a:ea typeface="Calibri" pitchFamily="34" charset="-122"/>
                <a:cs typeface="Calibri" pitchFamily="34" charset="-120"/>
              </a:rPr>
              <a:t>Children regulate behavior more effectively when feedback is immediate, visible and impersonal. Moving the signal from the teacher's voice to an ambient LED removes the room from a power struggle and into shared norms.</a:t>
            </a:r>
            <a:endParaRPr lang="en-US" sz="1300" dirty="0"/>
          </a:p>
        </p:txBody>
      </p:sp>
      <p:sp>
        <p:nvSpPr>
          <p:cNvPr id="25" name="Slide Number Placeholder 0"/>
          <p:cNvSpPr>
            <a:spLocks noGrp="1"/>
          </p:cNvSpPr>
          <p:nvPr>
            <p:ph type="sldNum" sz="quarter" idx="4294967295"/>
          </p:nvPr>
        </p:nvSpPr>
        <p:spPr>
          <a:xfrm>
            <a:off x="11704320"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334155"/>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indent="0" marL="0">
              <a:buNone/>
            </a:pPr>
            <a:r>
              <a:rPr lang="en-US" sz="3000" b="1" dirty="0">
                <a:solidFill>
                  <a:srgbClr val="1E3A8A"/>
                </a:solidFill>
                <a:latin typeface="Calibri" pitchFamily="34" charset="0"/>
                <a:ea typeface="Calibri" pitchFamily="34" charset="-122"/>
                <a:cs typeface="Calibri" pitchFamily="34" charset="-120"/>
              </a:rPr>
              <a:t>Educational angle 2 — Turning the data into school decisions</a:t>
            </a:r>
            <a:endParaRPr lang="en-US" sz="3000" dirty="0"/>
          </a:p>
        </p:txBody>
      </p:sp>
      <p:sp>
        <p:nvSpPr>
          <p:cNvPr id="3" name="Text 1"/>
          <p:cNvSpPr/>
          <p:nvPr/>
        </p:nvSpPr>
        <p:spPr>
          <a:xfrm>
            <a:off x="548640" y="1051560"/>
            <a:ext cx="10972800" cy="365760"/>
          </a:xfrm>
          <a:prstGeom prst="rect">
            <a:avLst/>
          </a:prstGeom>
          <a:noFill/>
          <a:ln/>
        </p:spPr>
        <p:txBody>
          <a:bodyPr wrap="square" rtlCol="0" anchor="ctr"/>
          <a:lstStyle/>
          <a:p>
            <a:pPr indent="0" marL="0">
              <a:buNone/>
            </a:pPr>
            <a:r>
              <a:rPr lang="en-US" sz="1600" i="1" dirty="0">
                <a:solidFill>
                  <a:srgbClr val="334155"/>
                </a:solidFill>
                <a:latin typeface="Calibri" pitchFamily="34" charset="0"/>
                <a:ea typeface="Calibri" pitchFamily="34" charset="-122"/>
                <a:cs typeface="Calibri" pitchFamily="34" charset="-120"/>
              </a:rPr>
              <a:t>Objective measurements replace opinions in conversations about the learning environment</a:t>
            </a:r>
            <a:endParaRPr lang="en-US" sz="1600" dirty="0"/>
          </a:p>
        </p:txBody>
      </p:sp>
      <p:sp>
        <p:nvSpPr>
          <p:cNvPr id="4" name="Shape 2"/>
          <p:cNvSpPr/>
          <p:nvPr/>
        </p:nvSpPr>
        <p:spPr>
          <a:xfrm>
            <a:off x="548640" y="1691640"/>
            <a:ext cx="5486400" cy="2103120"/>
          </a:xfrm>
          <a:prstGeom prst="roundRect">
            <a:avLst>
              <a:gd name="adj" fmla="val 3478"/>
            </a:avLst>
          </a:prstGeom>
          <a:solidFill>
            <a:srgbClr val="FFFFFF"/>
          </a:solidFill>
          <a:ln w="9525">
            <a:solidFill>
              <a:srgbClr val="CBD5E1"/>
            </a:solidFill>
            <a:prstDash val="solid"/>
          </a:ln>
          <a:effectLst>
            <a:outerShdw sx="100000" sy="100000" kx="0" ky="0" algn="bl" rotWithShape="0" blurRad="76200" dist="12700" dir="16200000">
              <a:srgbClr val="94A3B8">
                <a:alpha val="15000"/>
              </a:srgbClr>
            </a:outerShdw>
          </a:effectLst>
        </p:spPr>
      </p:sp>
      <p:sp>
        <p:nvSpPr>
          <p:cNvPr id="5" name="Text 3"/>
          <p:cNvSpPr/>
          <p:nvPr/>
        </p:nvSpPr>
        <p:spPr>
          <a:xfrm>
            <a:off x="777240" y="1874520"/>
            <a:ext cx="5029200" cy="457200"/>
          </a:xfrm>
          <a:prstGeom prst="rect">
            <a:avLst/>
          </a:prstGeom>
          <a:noFill/>
          <a:ln/>
        </p:spPr>
        <p:txBody>
          <a:bodyPr wrap="square" rtlCol="0" anchor="ctr"/>
          <a:lstStyle/>
          <a:p>
            <a:pPr indent="0" marL="0">
              <a:buNone/>
            </a:pPr>
            <a:r>
              <a:rPr lang="en-US" sz="1600" b="1" dirty="0">
                <a:solidFill>
                  <a:srgbClr val="1E3A8A"/>
                </a:solidFill>
                <a:latin typeface="Calibri" pitchFamily="34" charset="0"/>
                <a:ea typeface="Calibri" pitchFamily="34" charset="-122"/>
                <a:cs typeface="Calibri" pitchFamily="34" charset="-120"/>
              </a:rPr>
              <a:t>Identify acoustically problematic rooms</a:t>
            </a:r>
            <a:endParaRPr lang="en-US" sz="1600" dirty="0"/>
          </a:p>
        </p:txBody>
      </p:sp>
      <p:sp>
        <p:nvSpPr>
          <p:cNvPr id="6" name="Text 4"/>
          <p:cNvSpPr/>
          <p:nvPr/>
        </p:nvSpPr>
        <p:spPr>
          <a:xfrm>
            <a:off x="777240" y="2377440"/>
            <a:ext cx="5029200" cy="1371600"/>
          </a:xfrm>
          <a:prstGeom prst="rect">
            <a:avLst/>
          </a:prstGeom>
          <a:noFill/>
          <a:ln/>
        </p:spPr>
        <p:txBody>
          <a:bodyPr wrap="square" rtlCol="0" anchor="ctr"/>
          <a:lstStyle/>
          <a:p>
            <a:pPr algn="just" indent="0" marL="0">
              <a:buNone/>
            </a:pPr>
            <a:r>
              <a:rPr lang="en-US" sz="1300" dirty="0">
                <a:solidFill>
                  <a:srgbClr val="0F172A"/>
                </a:solidFill>
                <a:latin typeface="Calibri" pitchFamily="34" charset="0"/>
                <a:ea typeface="Calibri" pitchFamily="34" charset="-122"/>
                <a:cs typeface="Calibri" pitchFamily="34" charset="-120"/>
              </a:rPr>
              <a:t>Compare every room across the same week. The dashboard surfaces which spaces sit chronically above target levels, regardless of which group occupies them.</a:t>
            </a:r>
            <a:endParaRPr lang="en-US" sz="1300" dirty="0"/>
          </a:p>
        </p:txBody>
      </p:sp>
      <p:sp>
        <p:nvSpPr>
          <p:cNvPr id="7" name="Shape 5"/>
          <p:cNvSpPr/>
          <p:nvPr/>
        </p:nvSpPr>
        <p:spPr>
          <a:xfrm>
            <a:off x="6217920" y="1691640"/>
            <a:ext cx="5486400" cy="2103120"/>
          </a:xfrm>
          <a:prstGeom prst="roundRect">
            <a:avLst>
              <a:gd name="adj" fmla="val 3478"/>
            </a:avLst>
          </a:prstGeom>
          <a:solidFill>
            <a:srgbClr val="FFFFFF"/>
          </a:solidFill>
          <a:ln w="9525">
            <a:solidFill>
              <a:srgbClr val="CBD5E1"/>
            </a:solidFill>
            <a:prstDash val="solid"/>
          </a:ln>
          <a:effectLst>
            <a:outerShdw sx="100000" sy="100000" kx="0" ky="0" algn="bl" rotWithShape="0" blurRad="76200" dist="12700" dir="16200000">
              <a:srgbClr val="94A3B8">
                <a:alpha val="15000"/>
              </a:srgbClr>
            </a:outerShdw>
          </a:effectLst>
        </p:spPr>
      </p:sp>
      <p:sp>
        <p:nvSpPr>
          <p:cNvPr id="8" name="Text 6"/>
          <p:cNvSpPr/>
          <p:nvPr/>
        </p:nvSpPr>
        <p:spPr>
          <a:xfrm>
            <a:off x="6446520" y="1874520"/>
            <a:ext cx="5029200" cy="457200"/>
          </a:xfrm>
          <a:prstGeom prst="rect">
            <a:avLst/>
          </a:prstGeom>
          <a:noFill/>
          <a:ln/>
        </p:spPr>
        <p:txBody>
          <a:bodyPr wrap="square" rtlCol="0" anchor="ctr"/>
          <a:lstStyle/>
          <a:p>
            <a:pPr indent="0" marL="0">
              <a:buNone/>
            </a:pPr>
            <a:r>
              <a:rPr lang="en-US" sz="1600" b="1" dirty="0">
                <a:solidFill>
                  <a:srgbClr val="1E3A8A"/>
                </a:solidFill>
                <a:latin typeface="Calibri" pitchFamily="34" charset="0"/>
                <a:ea typeface="Calibri" pitchFamily="34" charset="-122"/>
                <a:cs typeface="Calibri" pitchFamily="34" charset="-120"/>
              </a:rPr>
              <a:t>Evaluate physical interventions</a:t>
            </a:r>
            <a:endParaRPr lang="en-US" sz="1600" dirty="0"/>
          </a:p>
        </p:txBody>
      </p:sp>
      <p:sp>
        <p:nvSpPr>
          <p:cNvPr id="9" name="Text 7"/>
          <p:cNvSpPr/>
          <p:nvPr/>
        </p:nvSpPr>
        <p:spPr>
          <a:xfrm>
            <a:off x="6446520" y="2377440"/>
            <a:ext cx="5029200" cy="1371600"/>
          </a:xfrm>
          <a:prstGeom prst="rect">
            <a:avLst/>
          </a:prstGeom>
          <a:noFill/>
          <a:ln/>
        </p:spPr>
        <p:txBody>
          <a:bodyPr wrap="square" rtlCol="0" anchor="ctr"/>
          <a:lstStyle/>
          <a:p>
            <a:pPr algn="just" indent="0" marL="0">
              <a:buNone/>
            </a:pPr>
            <a:r>
              <a:rPr lang="en-US" sz="1300" dirty="0">
                <a:solidFill>
                  <a:srgbClr val="0F172A"/>
                </a:solidFill>
                <a:latin typeface="Calibri" pitchFamily="34" charset="0"/>
                <a:ea typeface="Calibri" pitchFamily="34" charset="-122"/>
                <a:cs typeface="Calibri" pitchFamily="34" charset="-120"/>
              </a:rPr>
              <a:t>Measure before and after adding acoustic panels, soft furniture, carpets, or curtains. Decisions stop being aesthetic preferences and become measurable outcomes.</a:t>
            </a:r>
            <a:endParaRPr lang="en-US" sz="1300" dirty="0"/>
          </a:p>
        </p:txBody>
      </p:sp>
      <p:sp>
        <p:nvSpPr>
          <p:cNvPr id="10" name="Shape 8"/>
          <p:cNvSpPr/>
          <p:nvPr/>
        </p:nvSpPr>
        <p:spPr>
          <a:xfrm>
            <a:off x="548640" y="3977640"/>
            <a:ext cx="5486400" cy="2103120"/>
          </a:xfrm>
          <a:prstGeom prst="roundRect">
            <a:avLst>
              <a:gd name="adj" fmla="val 3478"/>
            </a:avLst>
          </a:prstGeom>
          <a:solidFill>
            <a:srgbClr val="FFFFFF"/>
          </a:solidFill>
          <a:ln w="9525">
            <a:solidFill>
              <a:srgbClr val="CBD5E1"/>
            </a:solidFill>
            <a:prstDash val="solid"/>
          </a:ln>
          <a:effectLst>
            <a:outerShdw sx="100000" sy="100000" kx="0" ky="0" algn="bl" rotWithShape="0" blurRad="76200" dist="12700" dir="16200000">
              <a:srgbClr val="94A3B8">
                <a:alpha val="15000"/>
              </a:srgbClr>
            </a:outerShdw>
          </a:effectLst>
        </p:spPr>
      </p:sp>
      <p:sp>
        <p:nvSpPr>
          <p:cNvPr id="11" name="Text 9"/>
          <p:cNvSpPr/>
          <p:nvPr/>
        </p:nvSpPr>
        <p:spPr>
          <a:xfrm>
            <a:off x="777240" y="4160520"/>
            <a:ext cx="5029200" cy="457200"/>
          </a:xfrm>
          <a:prstGeom prst="rect">
            <a:avLst/>
          </a:prstGeom>
          <a:noFill/>
          <a:ln/>
        </p:spPr>
        <p:txBody>
          <a:bodyPr wrap="square" rtlCol="0" anchor="ctr"/>
          <a:lstStyle/>
          <a:p>
            <a:pPr indent="0" marL="0">
              <a:buNone/>
            </a:pPr>
            <a:r>
              <a:rPr lang="en-US" sz="1600" b="1" dirty="0">
                <a:solidFill>
                  <a:srgbClr val="1E3A8A"/>
                </a:solidFill>
                <a:latin typeface="Calibri" pitchFamily="34" charset="0"/>
                <a:ea typeface="Calibri" pitchFamily="34" charset="-122"/>
                <a:cs typeface="Calibri" pitchFamily="34" charset="-120"/>
              </a:rPr>
              <a:t>Inform timetable and grouping choices</a:t>
            </a:r>
            <a:endParaRPr lang="en-US" sz="1600" dirty="0"/>
          </a:p>
        </p:txBody>
      </p:sp>
      <p:sp>
        <p:nvSpPr>
          <p:cNvPr id="12" name="Text 10"/>
          <p:cNvSpPr/>
          <p:nvPr/>
        </p:nvSpPr>
        <p:spPr>
          <a:xfrm>
            <a:off x="777240" y="4663440"/>
            <a:ext cx="5029200" cy="1371600"/>
          </a:xfrm>
          <a:prstGeom prst="rect">
            <a:avLst/>
          </a:prstGeom>
          <a:noFill/>
          <a:ln/>
        </p:spPr>
        <p:txBody>
          <a:bodyPr wrap="square" rtlCol="0" anchor="ctr"/>
          <a:lstStyle/>
          <a:p>
            <a:pPr algn="just" indent="0" marL="0">
              <a:buNone/>
            </a:pPr>
            <a:r>
              <a:rPr lang="en-US" sz="1300" dirty="0">
                <a:solidFill>
                  <a:srgbClr val="0F172A"/>
                </a:solidFill>
                <a:latin typeface="Calibri" pitchFamily="34" charset="0"/>
                <a:ea typeface="Calibri" pitchFamily="34" charset="-122"/>
                <a:cs typeface="Calibri" pitchFamily="34" charset="-120"/>
              </a:rPr>
              <a:t>Find the loudest slots of the week. Sometimes the answer is not behavior — it is two demanding subjects scheduled back-to-back, or a class size that no longer fits the room.</a:t>
            </a:r>
            <a:endParaRPr lang="en-US" sz="1300" dirty="0"/>
          </a:p>
        </p:txBody>
      </p:sp>
      <p:sp>
        <p:nvSpPr>
          <p:cNvPr id="13" name="Shape 11"/>
          <p:cNvSpPr/>
          <p:nvPr/>
        </p:nvSpPr>
        <p:spPr>
          <a:xfrm>
            <a:off x="6217920" y="3977640"/>
            <a:ext cx="5486400" cy="2103120"/>
          </a:xfrm>
          <a:prstGeom prst="roundRect">
            <a:avLst>
              <a:gd name="adj" fmla="val 3478"/>
            </a:avLst>
          </a:prstGeom>
          <a:solidFill>
            <a:srgbClr val="FFFFFF"/>
          </a:solidFill>
          <a:ln w="9525">
            <a:solidFill>
              <a:srgbClr val="CBD5E1"/>
            </a:solidFill>
            <a:prstDash val="solid"/>
          </a:ln>
          <a:effectLst>
            <a:outerShdw sx="100000" sy="100000" kx="0" ky="0" algn="bl" rotWithShape="0" blurRad="76200" dist="12700" dir="16200000">
              <a:srgbClr val="94A3B8">
                <a:alpha val="15000"/>
              </a:srgbClr>
            </a:outerShdw>
          </a:effectLst>
        </p:spPr>
      </p:sp>
      <p:sp>
        <p:nvSpPr>
          <p:cNvPr id="14" name="Text 12"/>
          <p:cNvSpPr/>
          <p:nvPr/>
        </p:nvSpPr>
        <p:spPr>
          <a:xfrm>
            <a:off x="6446520" y="4160520"/>
            <a:ext cx="5029200" cy="457200"/>
          </a:xfrm>
          <a:prstGeom prst="rect">
            <a:avLst/>
          </a:prstGeom>
          <a:noFill/>
          <a:ln/>
        </p:spPr>
        <p:txBody>
          <a:bodyPr wrap="square" rtlCol="0" anchor="ctr"/>
          <a:lstStyle/>
          <a:p>
            <a:pPr indent="0" marL="0">
              <a:buNone/>
            </a:pPr>
            <a:r>
              <a:rPr lang="en-US" sz="1600" b="1" dirty="0">
                <a:solidFill>
                  <a:srgbClr val="1E3A8A"/>
                </a:solidFill>
                <a:latin typeface="Calibri" pitchFamily="34" charset="0"/>
                <a:ea typeface="Calibri" pitchFamily="34" charset="-122"/>
                <a:cs typeface="Calibri" pitchFamily="34" charset="-120"/>
              </a:rPr>
              <a:t>Detect anomalies, early</a:t>
            </a:r>
            <a:endParaRPr lang="en-US" sz="1600" dirty="0"/>
          </a:p>
        </p:txBody>
      </p:sp>
      <p:sp>
        <p:nvSpPr>
          <p:cNvPr id="15" name="Text 13"/>
          <p:cNvSpPr/>
          <p:nvPr/>
        </p:nvSpPr>
        <p:spPr>
          <a:xfrm>
            <a:off x="6446520" y="4663440"/>
            <a:ext cx="5029200" cy="1371600"/>
          </a:xfrm>
          <a:prstGeom prst="rect">
            <a:avLst/>
          </a:prstGeom>
          <a:noFill/>
          <a:ln/>
        </p:spPr>
        <p:txBody>
          <a:bodyPr wrap="square" rtlCol="0" anchor="ctr"/>
          <a:lstStyle/>
          <a:p>
            <a:pPr algn="just" indent="0" marL="0">
              <a:buNone/>
            </a:pPr>
            <a:r>
              <a:rPr lang="en-US" sz="1300" dirty="0">
                <a:solidFill>
                  <a:srgbClr val="0F172A"/>
                </a:solidFill>
                <a:latin typeface="Calibri" pitchFamily="34" charset="0"/>
                <a:ea typeface="Calibri" pitchFamily="34" charset="-122"/>
                <a:cs typeface="Calibri" pitchFamily="34" charset="-120"/>
              </a:rPr>
              <a:t>A sudden change in baseline noise often correlates with a broken ventilation unit, a new corridor activity, or a class going through a hard week. Patterns are easier to spot than incidents.</a:t>
            </a:r>
            <a:endParaRPr lang="en-US" sz="1300" dirty="0"/>
          </a:p>
        </p:txBody>
      </p:sp>
      <p:sp>
        <p:nvSpPr>
          <p:cNvPr id="25" name="Slide Number Placeholder 0"/>
          <p:cNvSpPr>
            <a:spLocks noGrp="1"/>
          </p:cNvSpPr>
          <p:nvPr>
            <p:ph type="sldNum" sz="quarter" idx="4294967295"/>
          </p:nvPr>
        </p:nvSpPr>
        <p:spPr>
          <a:xfrm>
            <a:off x="11704320"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334155"/>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indent="0" marL="0">
              <a:buNone/>
            </a:pPr>
            <a:r>
              <a:rPr lang="en-US" sz="3000" b="1" dirty="0">
                <a:solidFill>
                  <a:srgbClr val="1E3A8A"/>
                </a:solidFill>
                <a:latin typeface="Calibri" pitchFamily="34" charset="0"/>
                <a:ea typeface="Calibri" pitchFamily="34" charset="-122"/>
                <a:cs typeface="Calibri" pitchFamily="34" charset="-120"/>
              </a:rPr>
              <a:t>Educational angle 3 — Data literacy with data students care about</a:t>
            </a:r>
            <a:endParaRPr lang="en-US" sz="3000" dirty="0"/>
          </a:p>
        </p:txBody>
      </p:sp>
      <p:sp>
        <p:nvSpPr>
          <p:cNvPr id="3" name="Text 1"/>
          <p:cNvSpPr/>
          <p:nvPr/>
        </p:nvSpPr>
        <p:spPr>
          <a:xfrm>
            <a:off x="548640" y="1051560"/>
            <a:ext cx="10972800" cy="365760"/>
          </a:xfrm>
          <a:prstGeom prst="rect">
            <a:avLst/>
          </a:prstGeom>
          <a:noFill/>
          <a:ln/>
        </p:spPr>
        <p:txBody>
          <a:bodyPr wrap="square" rtlCol="0" anchor="ctr"/>
          <a:lstStyle/>
          <a:p>
            <a:pPr indent="0" marL="0">
              <a:buNone/>
            </a:pPr>
            <a:r>
              <a:rPr lang="en-US" sz="1600" i="1" dirty="0">
                <a:solidFill>
                  <a:srgbClr val="334155"/>
                </a:solidFill>
                <a:latin typeface="Calibri" pitchFamily="34" charset="0"/>
                <a:ea typeface="Calibri" pitchFamily="34" charset="-122"/>
                <a:cs typeface="Calibri" pitchFamily="34" charset="-120"/>
              </a:rPr>
              <a:t>The dataset is their own classroom, so the questions become personal</a:t>
            </a:r>
            <a:endParaRPr lang="en-US" sz="1600" dirty="0"/>
          </a:p>
        </p:txBody>
      </p:sp>
      <p:sp>
        <p:nvSpPr>
          <p:cNvPr id="4" name="Text 2"/>
          <p:cNvSpPr/>
          <p:nvPr/>
        </p:nvSpPr>
        <p:spPr>
          <a:xfrm>
            <a:off x="548640" y="1828800"/>
            <a:ext cx="10972800" cy="4389120"/>
          </a:xfrm>
          <a:prstGeom prst="rect">
            <a:avLst/>
          </a:prstGeom>
          <a:noFill/>
          <a:ln/>
        </p:spPr>
        <p:txBody>
          <a:bodyPr wrap="square" rtlCol="0" anchor="t"/>
          <a:lstStyle/>
          <a:p>
            <a:pPr algn="just" marL="342900" indent="-342900">
              <a:spcAft>
                <a:spcPts val="1000"/>
              </a:spcAft>
              <a:buSzPct val="100000"/>
              <a:buChar char="■"/>
            </a:pPr>
            <a:r>
              <a:rPr lang="en-US" sz="1800" dirty="0">
                <a:solidFill>
                  <a:srgbClr val="0F172A"/>
                </a:solidFill>
                <a:latin typeface="Calibri" pitchFamily="34" charset="0"/>
                <a:ea typeface="Calibri" pitchFamily="34" charset="-122"/>
                <a:cs typeface="Calibri" pitchFamily="34" charset="-120"/>
              </a:rPr>
              <a:t>Which time of the day is loudest in our room, and why? Compare what we expected with what really happened.</a:t>
            </a:r>
            <a:pPr algn="just" marL="342900" indent="-342900">
              <a:spcAft>
                <a:spcPts val="1000"/>
              </a:spcAft>
              <a:buSzPct val="100000"/>
              <a:buChar char="■"/>
            </a:pPr>
            <a:r>
              <a:rPr lang="en-US" sz="1800" dirty="0">
                <a:solidFill>
                  <a:srgbClr val="0F172A"/>
                </a:solidFill>
                <a:latin typeface="Calibri" pitchFamily="34" charset="0"/>
                <a:ea typeface="Calibri" pitchFamily="34" charset="-122"/>
                <a:cs typeface="Calibri" pitchFamily="34" charset="-120"/>
              </a:rPr>
              <a:t>Does our class get noisier on Fridays? Does the room next door follow the same pattern?</a:t>
            </a:r>
            <a:pPr algn="just" marL="342900" indent="-342900">
              <a:spcAft>
                <a:spcPts val="1000"/>
              </a:spcAft>
              <a:buSzPct val="100000"/>
              <a:buChar char="■"/>
            </a:pPr>
            <a:r>
              <a:rPr lang="en-US" sz="1800" dirty="0">
                <a:solidFill>
                  <a:srgbClr val="0F172A"/>
                </a:solidFill>
                <a:latin typeface="Calibri" pitchFamily="34" charset="0"/>
                <a:ea typeface="Calibri" pitchFamily="34" charset="-122"/>
                <a:cs typeface="Calibri" pitchFamily="34" charset="-120"/>
              </a:rPr>
              <a:t>Did the new seating arrangement actually change anything, or did it just feel like it?</a:t>
            </a:r>
            <a:pPr algn="just" marL="342900" indent="-342900">
              <a:spcAft>
                <a:spcPts val="1000"/>
              </a:spcAft>
              <a:buSzPct val="100000"/>
              <a:buChar char="■"/>
            </a:pPr>
            <a:r>
              <a:rPr lang="en-US" sz="1800" dirty="0">
                <a:solidFill>
                  <a:srgbClr val="0F172A"/>
                </a:solidFill>
                <a:latin typeface="Calibri" pitchFamily="34" charset="0"/>
                <a:ea typeface="Calibri" pitchFamily="34" charset="-122"/>
                <a:cs typeface="Calibri" pitchFamily="34" charset="-120"/>
              </a:rPr>
              <a:t>Plot the curve before and after we changed the carpet, the blinds, or the way we line up to leave.</a:t>
            </a:r>
            <a:pPr algn="just" marL="342900" indent="-342900">
              <a:spcAft>
                <a:spcPts val="1000"/>
              </a:spcAft>
              <a:buSzPct val="100000"/>
              <a:buChar char="■"/>
            </a:pPr>
            <a:r>
              <a:rPr lang="en-US" sz="1800" dirty="0">
                <a:solidFill>
                  <a:srgbClr val="0F172A"/>
                </a:solidFill>
                <a:latin typeface="Calibri" pitchFamily="34" charset="0"/>
                <a:ea typeface="Calibri" pitchFamily="34" charset="-122"/>
                <a:cs typeface="Calibri" pitchFamily="34" charset="-120"/>
              </a:rPr>
              <a:t>Hypothesise, test, plot, and share findings with the school council — using the same data that the school management sees.</a:t>
            </a:r>
            <a:endParaRPr lang="en-US" sz="1800" dirty="0"/>
          </a:p>
        </p:txBody>
      </p:sp>
      <p:sp>
        <p:nvSpPr>
          <p:cNvPr id="5" name="Shape 3"/>
          <p:cNvSpPr/>
          <p:nvPr/>
        </p:nvSpPr>
        <p:spPr>
          <a:xfrm>
            <a:off x="548640" y="5532120"/>
            <a:ext cx="11064240" cy="777240"/>
          </a:xfrm>
          <a:prstGeom prst="roundRect">
            <a:avLst>
              <a:gd name="adj" fmla="val 9412"/>
            </a:avLst>
          </a:prstGeom>
          <a:solidFill>
            <a:srgbClr val="DBEAFE"/>
          </a:solidFill>
          <a:ln w="9525">
            <a:solidFill>
              <a:srgbClr val="CBD5E1"/>
            </a:solidFill>
            <a:prstDash val="solid"/>
          </a:ln>
          <a:effectLst>
            <a:outerShdw sx="100000" sy="100000" kx="0" ky="0" algn="bl" rotWithShape="0" blurRad="76200" dist="12700" dir="16200000">
              <a:srgbClr val="94A3B8">
                <a:alpha val="15000"/>
              </a:srgbClr>
            </a:outerShdw>
          </a:effectLst>
        </p:spPr>
      </p:sp>
      <p:sp>
        <p:nvSpPr>
          <p:cNvPr id="6" name="Text 4"/>
          <p:cNvSpPr/>
          <p:nvPr/>
        </p:nvSpPr>
        <p:spPr>
          <a:xfrm>
            <a:off x="822960" y="5623560"/>
            <a:ext cx="10515600" cy="640080"/>
          </a:xfrm>
          <a:prstGeom prst="rect">
            <a:avLst/>
          </a:prstGeom>
          <a:noFill/>
          <a:ln/>
        </p:spPr>
        <p:txBody>
          <a:bodyPr wrap="square" rtlCol="0" anchor="ctr"/>
          <a:lstStyle/>
          <a:p>
            <a:pPr algn="just" indent="0" marL="0">
              <a:buNone/>
            </a:pPr>
            <a:r>
              <a:rPr lang="en-US" sz="1400" b="1" i="1" dirty="0">
                <a:solidFill>
                  <a:srgbClr val="1E40AF"/>
                </a:solidFill>
                <a:latin typeface="Calibri" pitchFamily="34" charset="0"/>
                <a:ea typeface="Calibri" pitchFamily="34" charset="-122"/>
                <a:cs typeface="Calibri" pitchFamily="34" charset="-120"/>
              </a:rPr>
              <a:t>Every chart on the dashboard is also a JSON endpoint — older students can pull the data into Excel, Google Sheets, Python, R or Scratch.</a:t>
            </a:r>
            <a:endParaRPr lang="en-US" sz="1400" dirty="0"/>
          </a:p>
        </p:txBody>
      </p:sp>
      <p:sp>
        <p:nvSpPr>
          <p:cNvPr id="25" name="Slide Number Placeholder 0"/>
          <p:cNvSpPr>
            <a:spLocks noGrp="1"/>
          </p:cNvSpPr>
          <p:nvPr>
            <p:ph type="sldNum" sz="quarter" idx="4294967295"/>
          </p:nvPr>
        </p:nvSpPr>
        <p:spPr>
          <a:xfrm>
            <a:off x="11704320"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334155"/>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indent="0" marL="0">
              <a:buNone/>
            </a:pPr>
            <a:r>
              <a:rPr lang="en-US" sz="3000" b="1" dirty="0">
                <a:solidFill>
                  <a:srgbClr val="1E3A8A"/>
                </a:solidFill>
                <a:latin typeface="Calibri" pitchFamily="34" charset="0"/>
                <a:ea typeface="Calibri" pitchFamily="34" charset="-122"/>
                <a:cs typeface="Calibri" pitchFamily="34" charset="-120"/>
              </a:rPr>
              <a:t>Privacy by design</a:t>
            </a:r>
            <a:endParaRPr lang="en-US" sz="3000" dirty="0"/>
          </a:p>
        </p:txBody>
      </p:sp>
      <p:sp>
        <p:nvSpPr>
          <p:cNvPr id="3" name="Text 1"/>
          <p:cNvSpPr/>
          <p:nvPr/>
        </p:nvSpPr>
        <p:spPr>
          <a:xfrm>
            <a:off x="548640" y="1051560"/>
            <a:ext cx="10972800" cy="365760"/>
          </a:xfrm>
          <a:prstGeom prst="rect">
            <a:avLst/>
          </a:prstGeom>
          <a:noFill/>
          <a:ln/>
        </p:spPr>
        <p:txBody>
          <a:bodyPr wrap="square" rtlCol="0" anchor="ctr"/>
          <a:lstStyle/>
          <a:p>
            <a:pPr indent="0" marL="0">
              <a:buNone/>
            </a:pPr>
            <a:r>
              <a:rPr lang="en-US" sz="1600" i="1" dirty="0">
                <a:solidFill>
                  <a:srgbClr val="334155"/>
                </a:solidFill>
                <a:latin typeface="Calibri" pitchFamily="34" charset="0"/>
                <a:ea typeface="Calibri" pitchFamily="34" charset="-122"/>
                <a:cs typeface="Calibri" pitchFamily="34" charset="-120"/>
              </a:rPr>
              <a:t>Measure the room, not the people in it</a:t>
            </a:r>
            <a:endParaRPr lang="en-US" sz="1600" dirty="0"/>
          </a:p>
        </p:txBody>
      </p:sp>
      <p:sp>
        <p:nvSpPr>
          <p:cNvPr id="4" name="Shape 2"/>
          <p:cNvSpPr/>
          <p:nvPr/>
        </p:nvSpPr>
        <p:spPr>
          <a:xfrm>
            <a:off x="548640" y="1645920"/>
            <a:ext cx="5486400" cy="4572000"/>
          </a:xfrm>
          <a:prstGeom prst="roundRect">
            <a:avLst>
              <a:gd name="adj" fmla="val 1600"/>
            </a:avLst>
          </a:prstGeom>
          <a:solidFill>
            <a:srgbClr val="DCFCE7"/>
          </a:solidFill>
          <a:ln w="9525">
            <a:solidFill>
              <a:srgbClr val="CBD5E1"/>
            </a:solidFill>
            <a:prstDash val="solid"/>
          </a:ln>
          <a:effectLst>
            <a:outerShdw sx="100000" sy="100000" kx="0" ky="0" algn="bl" rotWithShape="0" blurRad="76200" dist="12700" dir="16200000">
              <a:srgbClr val="94A3B8">
                <a:alpha val="15000"/>
              </a:srgbClr>
            </a:outerShdw>
          </a:effectLst>
        </p:spPr>
      </p:sp>
      <p:sp>
        <p:nvSpPr>
          <p:cNvPr id="5" name="Text 3"/>
          <p:cNvSpPr/>
          <p:nvPr/>
        </p:nvSpPr>
        <p:spPr>
          <a:xfrm>
            <a:off x="822960" y="1828800"/>
            <a:ext cx="4937760" cy="457200"/>
          </a:xfrm>
          <a:prstGeom prst="rect">
            <a:avLst/>
          </a:prstGeom>
          <a:noFill/>
          <a:ln/>
        </p:spPr>
        <p:txBody>
          <a:bodyPr wrap="square" rtlCol="0" anchor="ctr"/>
          <a:lstStyle/>
          <a:p>
            <a:pPr indent="0" marL="0">
              <a:buNone/>
            </a:pPr>
            <a:r>
              <a:rPr lang="en-US" sz="2000" b="1" dirty="0">
                <a:solidFill>
                  <a:srgbClr val="166534"/>
                </a:solidFill>
                <a:latin typeface="Calibri" pitchFamily="34" charset="0"/>
                <a:ea typeface="Calibri" pitchFamily="34" charset="-122"/>
                <a:cs typeface="Calibri" pitchFamily="34" charset="-120"/>
              </a:rPr>
              <a:t>What is collected</a:t>
            </a:r>
            <a:endParaRPr lang="en-US" sz="2000" dirty="0"/>
          </a:p>
        </p:txBody>
      </p:sp>
      <p:sp>
        <p:nvSpPr>
          <p:cNvPr id="6" name="Text 4"/>
          <p:cNvSpPr/>
          <p:nvPr/>
        </p:nvSpPr>
        <p:spPr>
          <a:xfrm>
            <a:off x="822960" y="2377440"/>
            <a:ext cx="4937760" cy="1828800"/>
          </a:xfrm>
          <a:prstGeom prst="rect">
            <a:avLst/>
          </a:prstGeom>
          <a:noFill/>
          <a:ln/>
        </p:spPr>
        <p:txBody>
          <a:bodyPr wrap="square" rtlCol="0" anchor="t"/>
          <a:lstStyle/>
          <a:p>
            <a:pPr algn="just" marL="342900" indent="-342900">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A single decibel number, sampled every few seconds.</a:t>
            </a:r>
            <a:pPr algn="just" marL="342900" indent="-342900">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Minimum, maximum and average per minute and per hour.</a:t>
            </a:r>
            <a:pPr algn="just" marL="342900" indent="-342900">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An anonymous room identifier chosen by the school.</a:t>
            </a:r>
            <a:endParaRPr lang="en-US" sz="1400" dirty="0"/>
          </a:p>
        </p:txBody>
      </p:sp>
      <p:sp>
        <p:nvSpPr>
          <p:cNvPr id="7" name="Shape 5"/>
          <p:cNvSpPr/>
          <p:nvPr/>
        </p:nvSpPr>
        <p:spPr>
          <a:xfrm>
            <a:off x="6126480" y="1645920"/>
            <a:ext cx="5577840" cy="4572000"/>
          </a:xfrm>
          <a:prstGeom prst="roundRect">
            <a:avLst>
              <a:gd name="adj" fmla="val 1600"/>
            </a:avLst>
          </a:prstGeom>
          <a:solidFill>
            <a:srgbClr val="FEE2E2"/>
          </a:solidFill>
          <a:ln w="9525">
            <a:solidFill>
              <a:srgbClr val="CBD5E1"/>
            </a:solidFill>
            <a:prstDash val="solid"/>
          </a:ln>
          <a:effectLst>
            <a:outerShdw sx="100000" sy="100000" kx="0" ky="0" algn="bl" rotWithShape="0" blurRad="76200" dist="12700" dir="16200000">
              <a:srgbClr val="94A3B8">
                <a:alpha val="15000"/>
              </a:srgbClr>
            </a:outerShdw>
          </a:effectLst>
        </p:spPr>
      </p:sp>
      <p:sp>
        <p:nvSpPr>
          <p:cNvPr id="8" name="Text 6"/>
          <p:cNvSpPr/>
          <p:nvPr/>
        </p:nvSpPr>
        <p:spPr>
          <a:xfrm>
            <a:off x="6400800" y="1828800"/>
            <a:ext cx="5029200" cy="457200"/>
          </a:xfrm>
          <a:prstGeom prst="rect">
            <a:avLst/>
          </a:prstGeom>
          <a:noFill/>
          <a:ln/>
        </p:spPr>
        <p:txBody>
          <a:bodyPr wrap="square" rtlCol="0" anchor="ctr"/>
          <a:lstStyle/>
          <a:p>
            <a:pPr indent="0" marL="0">
              <a:buNone/>
            </a:pPr>
            <a:r>
              <a:rPr lang="en-US" sz="2000" b="1" dirty="0">
                <a:solidFill>
                  <a:srgbClr val="991B1B"/>
                </a:solidFill>
                <a:latin typeface="Calibri" pitchFamily="34" charset="0"/>
                <a:ea typeface="Calibri" pitchFamily="34" charset="-122"/>
                <a:cs typeface="Calibri" pitchFamily="34" charset="-120"/>
              </a:rPr>
              <a:t>What is never collected</a:t>
            </a:r>
            <a:endParaRPr lang="en-US" sz="2000" dirty="0"/>
          </a:p>
        </p:txBody>
      </p:sp>
      <p:sp>
        <p:nvSpPr>
          <p:cNvPr id="9" name="Text 7"/>
          <p:cNvSpPr/>
          <p:nvPr/>
        </p:nvSpPr>
        <p:spPr>
          <a:xfrm>
            <a:off x="6400800" y="2377440"/>
            <a:ext cx="5029200" cy="2560320"/>
          </a:xfrm>
          <a:prstGeom prst="rect">
            <a:avLst/>
          </a:prstGeom>
          <a:noFill/>
          <a:ln/>
        </p:spPr>
        <p:txBody>
          <a:bodyPr wrap="square" rtlCol="0" anchor="t"/>
          <a:lstStyle/>
          <a:p>
            <a:pPr algn="just" marL="342900" indent="-342900">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No audio recordings — voices never leave the device.</a:t>
            </a:r>
            <a:pPr algn="just" marL="342900" indent="-342900">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No speech-to-text, no keyword detection, no transcription.</a:t>
            </a:r>
            <a:pPr algn="just" marL="342900" indent="-342900">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No personal identifiers, no faces, no names.</a:t>
            </a:r>
            <a:pPr algn="just" marL="342900" indent="-342900">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No location data beyond the room label the school chooses.</a:t>
            </a:r>
            <a:endParaRPr lang="en-US" sz="1400" dirty="0"/>
          </a:p>
        </p:txBody>
      </p:sp>
      <p:sp>
        <p:nvSpPr>
          <p:cNvPr id="10" name="Text 8"/>
          <p:cNvSpPr/>
          <p:nvPr/>
        </p:nvSpPr>
        <p:spPr>
          <a:xfrm>
            <a:off x="548640" y="6263640"/>
            <a:ext cx="11064240" cy="411480"/>
          </a:xfrm>
          <a:prstGeom prst="rect">
            <a:avLst/>
          </a:prstGeom>
          <a:noFill/>
          <a:ln/>
        </p:spPr>
        <p:txBody>
          <a:bodyPr wrap="square" rtlCol="0" anchor="t"/>
          <a:lstStyle/>
          <a:p>
            <a:pPr algn="just" indent="0" marL="0">
              <a:spcAft>
                <a:spcPts val="800"/>
              </a:spcAft>
              <a:buNone/>
            </a:pPr>
            <a:r>
              <a:rPr lang="en-US" sz="1200" i="1" dirty="0">
                <a:solidFill>
                  <a:srgbClr val="334155"/>
                </a:solidFill>
                <a:latin typeface="Calibri" pitchFamily="34" charset="0"/>
                <a:ea typeface="Calibri" pitchFamily="34" charset="-122"/>
                <a:cs typeface="Calibri" pitchFamily="34" charset="-120"/>
              </a:rPr>
              <a:t>This makes the system compatible with GDPR, FERPA-style policies and the kind of conversations schools actually want to have with families about technology in the classroom.</a:t>
            </a:r>
            <a:endParaRPr lang="en-US" sz="1200" dirty="0"/>
          </a:p>
        </p:txBody>
      </p:sp>
      <p:sp>
        <p:nvSpPr>
          <p:cNvPr id="25" name="Slide Number Placeholder 0"/>
          <p:cNvSpPr>
            <a:spLocks noGrp="1"/>
          </p:cNvSpPr>
          <p:nvPr>
            <p:ph type="sldNum" sz="quarter" idx="4294967295"/>
          </p:nvPr>
        </p:nvSpPr>
        <p:spPr>
          <a:xfrm>
            <a:off x="11704320"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334155"/>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164592"/>
            <a:ext cx="12188952" cy="6528816"/>
          </a:xfrm>
          <a:prstGeom prst="rect">
            <a:avLst/>
          </a:prstGeom>
          <a:solidFill>
            <a:srgbClr val="1E3A8A"/>
          </a:solidFill>
          <a:ln w="12700">
            <a:solidFill>
              <a:srgbClr val="1E3A8A"/>
            </a:solidFill>
            <a:prstDash val="solid"/>
          </a:ln>
        </p:spPr>
      </p:sp>
      <p:sp>
        <p:nvSpPr>
          <p:cNvPr id="3" name="Text 1"/>
          <p:cNvSpPr/>
          <p:nvPr/>
        </p:nvSpPr>
        <p:spPr>
          <a:xfrm>
            <a:off x="731520" y="1280160"/>
            <a:ext cx="10698480" cy="914400"/>
          </a:xfrm>
          <a:prstGeom prst="rect">
            <a:avLst/>
          </a:prstGeom>
          <a:noFill/>
          <a:ln/>
        </p:spPr>
        <p:txBody>
          <a:bodyPr wrap="square"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What this proof of concept has shown</a:t>
            </a:r>
            <a:endParaRPr lang="en-US" sz="3800" dirty="0"/>
          </a:p>
        </p:txBody>
      </p:sp>
      <p:sp>
        <p:nvSpPr>
          <p:cNvPr id="4" name="Shape 2"/>
          <p:cNvSpPr/>
          <p:nvPr/>
        </p:nvSpPr>
        <p:spPr>
          <a:xfrm>
            <a:off x="777240" y="2286000"/>
            <a:ext cx="1097280" cy="73152"/>
          </a:xfrm>
          <a:prstGeom prst="rect">
            <a:avLst/>
          </a:prstGeom>
          <a:solidFill>
            <a:srgbClr val="F59E0B"/>
          </a:solidFill>
          <a:ln w="12700">
            <a:solidFill>
              <a:srgbClr val="F59E0B"/>
            </a:solidFill>
            <a:prstDash val="solid"/>
          </a:ln>
        </p:spPr>
      </p:sp>
      <p:sp>
        <p:nvSpPr>
          <p:cNvPr id="5" name="Text 3"/>
          <p:cNvSpPr/>
          <p:nvPr/>
        </p:nvSpPr>
        <p:spPr>
          <a:xfrm>
            <a:off x="777240" y="2606040"/>
            <a:ext cx="10698480" cy="2926080"/>
          </a:xfrm>
          <a:prstGeom prst="rect">
            <a:avLst/>
          </a:prstGeom>
          <a:noFill/>
          <a:ln/>
        </p:spPr>
        <p:txBody>
          <a:bodyPr wrap="square" rtlCol="0" anchor="ctr"/>
          <a:lstStyle/>
          <a:p>
            <a:pPr algn="just" marL="342900" indent="-342900">
              <a:spcAft>
                <a:spcPts val="1200"/>
              </a:spcAft>
              <a:buSzPct val="100000"/>
              <a:buChar char="■"/>
            </a:pPr>
            <a:r>
              <a:rPr lang="en-US" sz="1800" dirty="0">
                <a:solidFill>
                  <a:srgbClr val="FFFFFF"/>
                </a:solidFill>
                <a:latin typeface="Calibri" pitchFamily="34" charset="0"/>
                <a:ea typeface="Calibri" pitchFamily="34" charset="-122"/>
                <a:cs typeface="Calibri" pitchFamily="34" charset="-120"/>
              </a:rPr>
              <a:t>A swarm of mini-microphones can monitor a real classroom continuously and stably for weeks.</a:t>
            </a:r>
            <a:pPr algn="just" marL="342900" indent="-342900">
              <a:spcAft>
                <a:spcPts val="1200"/>
              </a:spcAft>
              <a:buSzPct val="100000"/>
              <a:buChar char="■"/>
            </a:pPr>
            <a:r>
              <a:rPr lang="en-US" sz="1800" dirty="0">
                <a:solidFill>
                  <a:srgbClr val="FFFFFF"/>
                </a:solidFill>
                <a:latin typeface="Calibri" pitchFamily="34" charset="0"/>
                <a:ea typeface="Calibri" pitchFamily="34" charset="-122"/>
                <a:cs typeface="Calibri" pitchFamily="34" charset="-120"/>
              </a:rPr>
              <a:t>Off-the-shelf parts and open software are enough — no specialised acoustic hardware is required.</a:t>
            </a:r>
            <a:pPr algn="just" marL="342900" indent="-342900">
              <a:spcAft>
                <a:spcPts val="1200"/>
              </a:spcAft>
              <a:buSzPct val="100000"/>
              <a:buChar char="■"/>
            </a:pPr>
            <a:r>
              <a:rPr lang="en-US" sz="1800" dirty="0">
                <a:solidFill>
                  <a:srgbClr val="FFFFFF"/>
                </a:solidFill>
                <a:latin typeface="Calibri" pitchFamily="34" charset="0"/>
                <a:ea typeface="Calibri" pitchFamily="34" charset="-122"/>
                <a:cs typeface="Calibri" pitchFamily="34" charset="-120"/>
              </a:rPr>
              <a:t>A coloured LED, driven directly from the device, is enough to change behavior in the room.</a:t>
            </a:r>
            <a:pPr algn="just" marL="342900" indent="-342900">
              <a:spcAft>
                <a:spcPts val="1200"/>
              </a:spcAft>
              <a:buSzPct val="100000"/>
              <a:buChar char="■"/>
            </a:pPr>
            <a:r>
              <a:rPr lang="en-US" sz="1800" dirty="0">
                <a:solidFill>
                  <a:srgbClr val="FFFFFF"/>
                </a:solidFill>
                <a:latin typeface="Calibri" pitchFamily="34" charset="0"/>
                <a:ea typeface="Calibri" pitchFamily="34" charset="-122"/>
                <a:cs typeface="Calibri" pitchFamily="34" charset="-120"/>
              </a:rPr>
              <a:t>Long-term storage with rollups keeps queries fast and history meaningful across a whole school year.</a:t>
            </a:r>
            <a:pPr algn="just" marL="342900" indent="-342900">
              <a:spcAft>
                <a:spcPts val="1200"/>
              </a:spcAft>
              <a:buSzPct val="100000"/>
              <a:buChar char="■"/>
            </a:pPr>
            <a:r>
              <a:rPr lang="en-US" sz="1800" dirty="0">
                <a:solidFill>
                  <a:srgbClr val="FFFFFF"/>
                </a:solidFill>
                <a:latin typeface="Calibri" pitchFamily="34" charset="0"/>
                <a:ea typeface="Calibri" pitchFamily="34" charset="-122"/>
                <a:cs typeface="Calibri" pitchFamily="34" charset="-120"/>
              </a:rPr>
              <a:t>The same system can be used as a teaching tool, a behavior tool, and a school-management instrument.</a:t>
            </a:r>
            <a:endParaRPr lang="en-US" sz="1800" dirty="0"/>
          </a:p>
        </p:txBody>
      </p:sp>
      <p:sp>
        <p:nvSpPr>
          <p:cNvPr id="6" name="Text 4"/>
          <p:cNvSpPr/>
          <p:nvPr/>
        </p:nvSpPr>
        <p:spPr>
          <a:xfrm>
            <a:off x="731520" y="5852160"/>
            <a:ext cx="10698480" cy="457200"/>
          </a:xfrm>
          <a:prstGeom prst="rect">
            <a:avLst/>
          </a:prstGeom>
          <a:noFill/>
          <a:ln/>
        </p:spPr>
        <p:txBody>
          <a:bodyPr wrap="square" rtlCol="0" anchor="ctr"/>
          <a:lstStyle/>
          <a:p>
            <a:pPr indent="0" marL="0">
              <a:buNone/>
            </a:pPr>
            <a:r>
              <a:rPr lang="en-US" sz="1800" i="1" dirty="0">
                <a:solidFill>
                  <a:srgbClr val="93C5FD"/>
                </a:solidFill>
                <a:latin typeface="Calibri" pitchFamily="34" charset="0"/>
                <a:ea typeface="Calibri" pitchFamily="34" charset="-122"/>
                <a:cs typeface="Calibri" pitchFamily="34" charset="-120"/>
              </a:rPr>
              <a:t>EduSound Metrics  ·  Thank you  ·  Questions welcome</a:t>
            </a:r>
            <a:endParaRPr lang="en-US" sz="1800" dirty="0"/>
          </a:p>
        </p:txBody>
      </p:sp>
      <p:sp>
        <p:nvSpPr>
          <p:cNvPr id="25" name="Slide Number Placeholder 0"/>
          <p:cNvSpPr>
            <a:spLocks noGrp="1"/>
          </p:cNvSpPr>
          <p:nvPr>
            <p:ph type="sldNum" sz="quarter" idx="4294967295"/>
          </p:nvPr>
        </p:nvSpPr>
        <p:spPr>
          <a:xfrm>
            <a:off x="11704320" y="64465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334155"/>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EduSound Metrics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EduSound Metrics</dc:title>
  <dc:subject>Educational acoustics — proof of concept</dc:subject>
  <dc:creator>EduSound Metrics</dc:creator>
  <cp:lastModifiedBy>EduSound Metrics</cp:lastModifiedBy>
  <cp:revision>1</cp:revision>
  <dcterms:created xsi:type="dcterms:W3CDTF">2026-05-11T16:04:48Z</dcterms:created>
  <dcterms:modified xsi:type="dcterms:W3CDTF">2026-05-11T16:04:48Z</dcterms:modified>
</cp:coreProperties>
</file>