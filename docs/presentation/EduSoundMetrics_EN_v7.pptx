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26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46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May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88952" cy="65288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074920"/>
            <a:ext cx="7315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24544" y="4662569"/>
            <a:ext cx="73152" cy="109902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4444153"/>
            <a:ext cx="73152" cy="153585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2" y="4522397"/>
            <a:ext cx="73152" cy="137936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63456" y="4860501"/>
            <a:ext cx="73152" cy="70315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4850391"/>
            <a:ext cx="73152" cy="72337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4517042"/>
            <a:ext cx="73152" cy="13900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446072"/>
            <a:ext cx="73152" cy="15320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48672" y="4670859"/>
            <a:ext cx="73152" cy="108244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4976" y="5064158"/>
            <a:ext cx="73152" cy="2958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4654396"/>
            <a:ext cx="73152" cy="1115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7584" y="4442413"/>
            <a:ext cx="73152" cy="153933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33888" y="4527908"/>
            <a:ext cx="73152" cy="136834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80192" y="4870672"/>
            <a:ext cx="73152" cy="6828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4840344"/>
            <a:ext cx="73152" cy="743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4511844"/>
            <a:ext cx="73152" cy="140047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19104" y="4448168"/>
            <a:ext cx="73152" cy="152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65408" y="4679263"/>
            <a:ext cx="73152" cy="106563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11712" y="5053399"/>
            <a:ext cx="73152" cy="31736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58016" y="4646342"/>
            <a:ext cx="73152" cy="11314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4440852"/>
            <a:ext cx="73152" cy="1542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50624" y="4533574"/>
            <a:ext cx="73152" cy="135701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731520" y="2834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7200" dirty="0"/>
          </a:p>
        </p:txBody>
      </p:sp>
      <p:sp>
        <p:nvSpPr>
          <p:cNvPr id="27" name="Shape 25"/>
          <p:cNvSpPr/>
          <p:nvPr/>
        </p:nvSpPr>
        <p:spPr>
          <a:xfrm>
            <a:off x="777240" y="4023360"/>
            <a:ext cx="109728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51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to classrooms, not to people.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demonstration  ·  May 2026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classroom noise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shapes attention, well-being and learning — silently.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r>
              <a:rPr lang="en-US" sz="2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198882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above which comprehension drops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573786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teachers report voice strain at 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7200" dirty="0"/>
          </a:p>
        </p:txBody>
      </p:sp>
      <p:sp>
        <p:nvSpPr>
          <p:cNvPr id="15" name="Shape 13"/>
          <p:cNvSpPr/>
          <p:nvPr/>
        </p:nvSpPr>
        <p:spPr>
          <a:xfrm>
            <a:off x="948690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louder rooms hit students with hearing aids hardest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EduSound Metrics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loop, repeated all day, every 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14630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tiny mics per room, every few seconds.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15" name="Shape 13"/>
          <p:cNvSpPr/>
          <p:nvPr/>
        </p:nvSpPr>
        <p:spPr>
          <a:xfrm>
            <a:off x="44348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LED in the room, a dashboard on any device.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21" name="Shape 19"/>
          <p:cNvSpPr/>
          <p:nvPr/>
        </p:nvSpPr>
        <p:spPr>
          <a:xfrm>
            <a:off x="74066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rooms, across days, across the year.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4640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926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926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27" name="Shape 25"/>
          <p:cNvSpPr/>
          <p:nvPr/>
        </p:nvSpPr>
        <p:spPr>
          <a:xfrm>
            <a:off x="103784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teachers and school leadership.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architectures, one choice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mic vs. a swarm of tiny ones.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mic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4846320" cy="128016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3017520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06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 install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617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One viewpoint of the room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Single point of failure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Skewed by closest table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D1FAE5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61320" y="196596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61320" y="2002536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95160" y="2011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distributed mini-mics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46520" y="2743200"/>
            <a:ext cx="5120640" cy="1280160"/>
          </a:xfrm>
          <a:prstGeom prst="rect">
            <a:avLst/>
          </a:prstGeom>
          <a:solidFill>
            <a:srgbClr val="A7F3D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9848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Real spatial coverage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4617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Median filters out one loud table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5029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Graceful degradation if a mic fails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5440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Opens the door to heatmaps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ceiling of the classroom to a phone anywhere in the world.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broker.hivemq.com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SQLite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924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070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school IT changes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2628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ports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392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any phone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listening node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= step-down PCB (fuse + TSR) + soldered USB-C pigtail + M5Stack ATOM Echo S3R.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3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892808"/>
            <a:ext cx="5449824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806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complete listening nodes — each ATOM Echo wired to its own step-down PCB through a soldered pigtail.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78308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205740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comp.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6629400" y="277520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soldered on the PCB (fuse + TSR 1-2450)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33375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361188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0" dirty="0"/>
          </a:p>
        </p:txBody>
      </p:sp>
      <p:sp>
        <p:nvSpPr>
          <p:cNvPr id="15" name="Text 12"/>
          <p:cNvSpPr/>
          <p:nvPr/>
        </p:nvSpPr>
        <p:spPr>
          <a:xfrm>
            <a:off x="6629400" y="432968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per classroom (mesh)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0" y="489204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83680" y="516636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</a:t>
            </a:r>
            <a:endParaRPr lang="en-US" sz="7200" dirty="0"/>
          </a:p>
        </p:txBody>
      </p:sp>
      <p:sp>
        <p:nvSpPr>
          <p:cNvPr id="19" name="Text 16"/>
          <p:cNvSpPr/>
          <p:nvPr/>
        </p:nvSpPr>
        <p:spPr>
          <a:xfrm>
            <a:off x="6629400" y="588416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24 V line per room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sketch to circuit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from a pencil drawing to a board on the ceiling.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9" name="Image 0" descr="C:\Users\Departamento\Desktop\SoundMetrics\microfonoAula\docs\fotos\IMG_20260511_175247_15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2441448"/>
            <a:ext cx="3392424" cy="33009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9436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on graph paper — first attempt at the perfboard layout.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51960" y="178308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17830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21208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251960" y="233172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15" name="Image 1" descr="C:\Users\Departamento\Desktop\SoundMetrics\microfonoAula\docs\schema_pcb_no_valid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61688" y="2441448"/>
            <a:ext cx="3392424" cy="33009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59436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digital pass with an Adafruit USB-C breakout — CC pull-ups spotted as wrong. Discarded.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955280" y="178308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55280" y="17830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9154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7955280" y="233172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2" descr="C:\Users\Departamento\Desktop\SoundMetrics\microfonoAula\docs\fotos\IMG_20260511_175247_144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65008" y="2441448"/>
            <a:ext cx="3392424" cy="33009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955280" y="59436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+ TSR 1-2450 soldered on perfboard. No breakout, no pull-up resistors. 24 V in, USB-C pigtail out.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installed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step-down PCB, single 24 V bus, mounted on the ceiling.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840480" cy="44348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4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938528"/>
            <a:ext cx="3621024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806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PCB (close-up).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1828800"/>
            <a:ext cx="3291840" cy="4434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9" name="Image 1" descr="C:\Users\Departamento\Desktop\SoundMetrics\microfonoAula\docs\fotos\IMG_20260511_175247_163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1728" y="1938528"/>
            <a:ext cx="3072384" cy="3931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160" y="5806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on the ceiling.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046720" y="182880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12" name="Image 2" descr="C:\Users\Departamento\Desktop\SoundMetrics\microfonoAula\docs\fotos\IMG_20260511_175247_168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56448" y="1938528"/>
            <a:ext cx="3438144" cy="3931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83880" y="5806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junction box with 24 V terminal block.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wall socket to ceiling mic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wiring scheme — every classroom is identical.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59536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1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938528"/>
            <a:ext cx="8375904" cy="4215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828800"/>
            <a:ext cx="2377440" cy="4434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6880" y="2103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V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932688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0" y="338328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0" y="3566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932688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node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0" y="484632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50292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9326880" y="5715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ATOM Echo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speaks for itself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 glows. The class regulates the class.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2286000" cy="22860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228600" dist="38100" dir="16200000" algn="bl" rotWithShape="0">
              <a:srgbClr val="94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dB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937760" y="1828800"/>
            <a:ext cx="2286000" cy="2286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228600" dist="38100" dir="16200000" algn="bl" rotWithShape="0">
              <a:srgbClr val="94A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dB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8056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778240" y="1828800"/>
            <a:ext cx="2286000" cy="22860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228600" dist="38100" dir="162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 dB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2104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LOUD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teacher voice required.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classroom, five active mics, real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5953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2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892808"/>
            <a:ext cx="8375904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87452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6880" y="20116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 dB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3268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average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26880" y="333756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326880" y="3474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326880" y="4160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mics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326880" y="480060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326880" y="4937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326880" y="5623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latency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— by lesson, by 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align with the school timetable.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5953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3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892808"/>
            <a:ext cx="8375904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78308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509760" y="205740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2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0149840" y="270433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55480" y="277520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5-s samples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326880" y="333756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509760" y="361188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</a:t>
            </a:r>
            <a:endParaRPr lang="en-US" sz="7200" dirty="0"/>
          </a:p>
        </p:txBody>
      </p:sp>
      <p:sp>
        <p:nvSpPr>
          <p:cNvPr id="13" name="Shape 10"/>
          <p:cNvSpPr/>
          <p:nvPr/>
        </p:nvSpPr>
        <p:spPr>
          <a:xfrm>
            <a:off x="10149840" y="425881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55480" y="432968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per-minute rollup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326880" y="489204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509760" y="516636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7200" dirty="0"/>
          </a:p>
        </p:txBody>
      </p:sp>
      <p:sp>
        <p:nvSpPr>
          <p:cNvPr id="17" name="Shape 14"/>
          <p:cNvSpPr/>
          <p:nvPr/>
        </p:nvSpPr>
        <p:spPr>
          <a:xfrm>
            <a:off x="10149840" y="581329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55480" y="588416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per-hour rollup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Awareness, not authority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becomes the impartial referee.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class regulates the class.”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“who is shouting?” to “what does our room sound like right now?”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target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teacher set a dB goal for each activity.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together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lesson, the curve becomes a conversation.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039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039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LED, not the teacher, says “too loud”.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measurements replace opinions.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94560" y="2148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problem rooms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2697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rooms that are loud regardless of who occupies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103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331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909560" y="2148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interventions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09560" y="2697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&amp; after acoustic panels, carpets, blinds.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389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94560" y="4434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the timetable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4983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loudest slots — sometimes it's scheduling, not behavior.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389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617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909560" y="4434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anomalies early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09560" y="4983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sudden baseline shift often signals a broken HVAC unit.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data, their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literacy with a dataset students actually care about.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659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our room loudest — and why?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9260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Fridays sound different from Mondays?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8862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38404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new seating plan really change anything?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8463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371600" y="48006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room next door noisier than ours?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is also a JSON endpoint — export to Excel, Sheets, Python, R or Scratch.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room, not the people in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D1FAE5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dB level (every few seconds)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 / max / avg per minute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Anonymous room label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9659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55080" y="2743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Audio recording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35204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Speech / transcription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4297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Names, faces, identifiers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50749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Location data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is already telling 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days of continuous monitoring in one classroom — 7 microphones, 24/7.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r>
              <a:rPr lang="en-US" sz="1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days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202996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continuous recording, no dropouts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42k</a:t>
            </a:r>
            <a:r>
              <a:rPr lang="en-US" sz="1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samples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600760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one school day, 7 mics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</a:t>
            </a: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998524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spread across mics in the same room — the distributed model earns its keep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19" name="Shape 17"/>
          <p:cNvSpPr/>
          <p:nvPr/>
        </p:nvSpPr>
        <p:spPr>
          <a:xfrm>
            <a:off x="202996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loudest lesson average (5th period, just after lunch)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23" name="Shape 21"/>
          <p:cNvSpPr/>
          <p:nvPr/>
        </p:nvSpPr>
        <p:spPr>
          <a:xfrm>
            <a:off x="600760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quietest moment of the day — the break, when the room is empty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5600" dirty="0"/>
          </a:p>
        </p:txBody>
      </p:sp>
      <p:sp>
        <p:nvSpPr>
          <p:cNvPr id="27" name="Shape 25"/>
          <p:cNvSpPr/>
          <p:nvPr/>
        </p:nvSpPr>
        <p:spPr>
          <a:xfrm>
            <a:off x="998524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day above 70 dB — the room never tipped into red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88952" cy="65288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695831"/>
            <a:ext cx="73152" cy="135153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24544" y="599695"/>
            <a:ext cx="73152" cy="15438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802090"/>
            <a:ext cx="73152" cy="113902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2" y="1207825"/>
            <a:ext cx="73152" cy="32755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63456" y="842802"/>
            <a:ext cx="73152" cy="10575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08743"/>
            <a:ext cx="73152" cy="152571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668958"/>
            <a:ext cx="73152" cy="140528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995129"/>
            <a:ext cx="73152" cy="75294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48672" y="1035029"/>
            <a:ext cx="73152" cy="67314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4976" y="690093"/>
            <a:ext cx="73152" cy="136301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601172"/>
            <a:ext cx="73152" cy="154085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7584" y="810087"/>
            <a:ext cx="73152" cy="112302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33888" y="1218582"/>
            <a:ext cx="73152" cy="30603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80192" y="834345"/>
            <a:ext cx="73152" cy="10745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606562"/>
            <a:ext cx="73152" cy="153007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674081"/>
            <a:ext cx="73152" cy="139503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19104" y="1005145"/>
            <a:ext cx="73152" cy="73291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65408" y="1024830"/>
            <a:ext cx="73152" cy="6935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11712" y="684508"/>
            <a:ext cx="73152" cy="137418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58016" y="602827"/>
            <a:ext cx="73152" cy="153754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818204"/>
            <a:ext cx="73152" cy="1106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50624" y="1229343"/>
            <a:ext cx="73152" cy="28451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PoC has shown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73152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1440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continuous monitoring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8056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66344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open software is enough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41248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changes the room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Year-long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1440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rollups keep history meaningful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48056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466344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teach, regulate, manage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2960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841248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replicable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 Metrics  ·  Thank you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973</Words>
  <Application>Microsoft Office PowerPoint</Application>
  <PresentationFormat>Panorámica</PresentationFormat>
  <Paragraphs>224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EduSound Metrics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EduSound Metrics</dc:title>
  <dc:subject>Educational acoustics — proof of concept</dc:subject>
  <dc:creator>EduSound Metrics</dc:creator>
  <cp:lastModifiedBy>Departamento</cp:lastModifiedBy>
  <cp:revision>2</cp:revision>
  <dcterms:created xsi:type="dcterms:W3CDTF">2026-05-11T17:24:00Z</dcterms:created>
  <dcterms:modified xsi:type="dcterms:W3CDTF">2026-05-11T17:52:59Z</dcterms:modified>
</cp:coreProperties>
</file>